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21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0789920" cy="914400"/>
          </a:xfrm>
          <a:prstGeom prst="rect">
            <a:avLst/>
          </a:prstGeom>
          <a:noFill/>
        </p:spPr>
        <p:txBody>
          <a:bodyPr wrap="none">
            <a:spAutoFit/>
          </a:bodyPr>
          <a:lstStyle/>
          <a:p>
            <a:pPr>
              <a:defRPr sz="3600" b="1">
                <a:solidFill>
                  <a:srgbClr val="0F2C60"/>
                </a:solidFill>
              </a:defRPr>
            </a:pPr>
            <a:r>
              <a:t>QAGRedo run summary</a:t>
            </a:r>
          </a:p>
          <a:p>
            <a:pPr>
              <a:defRPr sz="2000">
                <a:solidFill>
                  <a:srgbClr val="233045"/>
                </a:solidFill>
              </a:defRPr>
            </a:pPr>
            <a:r>
              <a:t>1445_pope_eugene — 1445_pope_eugene</a:t>
            </a:r>
          </a:p>
          <a:p>
            <a:pPr>
              <a:defRPr sz="1600" b="1">
                <a:solidFill>
                  <a:srgbClr val="2153A0"/>
                </a:solidFill>
              </a:defRPr>
            </a:pPr>
            <a:r>
              <a:t>Overall: grade A, confidence 1.0, average_of_each_qa_pair</a:t>
            </a:r>
          </a:p>
        </p:txBody>
      </p:sp>
      <p:sp>
        <p:nvSpPr>
          <p:cNvPr id="5" name="TextBox 4"/>
          <p:cNvSpPr txBox="1"/>
          <p:nvPr/>
        </p:nvSpPr>
        <p:spPr>
          <a:xfrm>
            <a:off x="502920" y="6446520"/>
            <a:ext cx="11064240" cy="320040"/>
          </a:xfrm>
          <a:prstGeom prst="rect">
            <a:avLst/>
          </a:prstGeom>
          <a:noFill/>
        </p:spPr>
        <p:txBody>
          <a:bodyPr wrap="none">
            <a:spAutoFit/>
          </a:bodyPr>
          <a:lstStyle/>
          <a:p>
            <a:pPr algn="r">
              <a:defRPr sz="900">
                <a:solidFill>
                  <a:srgbClr val="5A6880"/>
                </a:solidFill>
              </a:defRPr>
            </a:pPr>
            <a:r>
              <a:t>/home/tyewhong/qagredo/output/vllm/qwen-qwen3.5-9b/2026-05-28_145345/1445_pope_eugene_0045_ana…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658368"/>
          </a:xfrm>
          <a:prstGeom prst="rect">
            <a:avLst/>
          </a:prstGeom>
          <a:noFill/>
        </p:spPr>
        <p:txBody>
          <a:bodyPr wrap="none">
            <a:spAutoFit/>
          </a:bodyPr>
          <a:lstStyle/>
          <a:p>
            <a:pPr>
              <a:defRPr sz="2800" b="1">
                <a:solidFill>
                  <a:srgbClr val="0F2C60"/>
                </a:solidFill>
              </a:defRPr>
            </a:pPr>
            <a:r>
              <a:t>What’s in the JSON (top-level keys)</a:t>
            </a:r>
          </a:p>
        </p:txBody>
      </p:sp>
      <p:sp>
        <p:nvSpPr>
          <p:cNvPr id="4" name="TextBox 3"/>
          <p:cNvSpPr txBox="1"/>
          <p:nvPr/>
        </p:nvSpPr>
        <p:spPr>
          <a:xfrm>
            <a:off x="502920" y="914400"/>
            <a:ext cx="10972800" cy="365760"/>
          </a:xfrm>
          <a:prstGeom prst="rect">
            <a:avLst/>
          </a:prstGeom>
          <a:noFill/>
        </p:spPr>
        <p:txBody>
          <a:bodyPr wrap="none">
            <a:spAutoFit/>
          </a:bodyPr>
          <a:lstStyle/>
          <a:p>
            <a:pPr>
              <a:defRPr sz="1200">
                <a:solidFill>
                  <a:srgbClr val="5A6880"/>
                </a:solidFill>
              </a:defRPr>
            </a:pPr>
            <a:r>
              <a:t>One file per document after the full pipeline.</a:t>
            </a:r>
          </a:p>
        </p:txBody>
      </p:sp>
      <p:sp>
        <p:nvSpPr>
          <p:cNvPr id="5" name="TextBox 4"/>
          <p:cNvSpPr txBox="1"/>
          <p:nvPr/>
        </p:nvSpPr>
        <p:spPr>
          <a:xfrm>
            <a:off x="594360" y="1325880"/>
            <a:ext cx="10972800" cy="5029200"/>
          </a:xfrm>
          <a:prstGeom prst="rect">
            <a:avLst/>
          </a:prstGeom>
          <a:noFill/>
        </p:spPr>
        <p:txBody>
          <a:bodyPr wrap="square">
            <a:spAutoFit/>
          </a:bodyPr>
          <a:lstStyle/>
          <a:p>
            <a:pPr>
              <a:lnSpc>
                <a:spcPct val="120000"/>
              </a:lnSpc>
              <a:spcAft>
                <a:spcPts val="600"/>
              </a:spcAft>
              <a:defRPr sz="1300">
                <a:solidFill>
                  <a:srgbClr val="233045"/>
                </a:solidFill>
              </a:defRPr>
            </a:pPr>
            <a:r>
              <a:t>document — id, title, source, type, content used for Q&amp;A</a:t>
            </a:r>
          </a:p>
          <a:p>
            <a:pPr>
              <a:lnSpc>
                <a:spcPct val="120000"/>
              </a:lnSpc>
              <a:spcAft>
                <a:spcPts val="600"/>
              </a:spcAft>
              <a:defRPr sz="1300">
                <a:solidFill>
                  <a:srgbClr val="233045"/>
                </a:solidFill>
              </a:defRPr>
            </a:pPr>
            <a:r>
              <a:t>qa_pairs[] — question, answer, hallucination_check, citation_spans, provenance</a:t>
            </a:r>
          </a:p>
          <a:p>
            <a:pPr>
              <a:lnSpc>
                <a:spcPct val="120000"/>
              </a:lnSpc>
              <a:spcAft>
                <a:spcPts val="600"/>
              </a:spcAft>
              <a:defRPr sz="1300">
                <a:solidFill>
                  <a:srgbClr val="233045"/>
                </a:solidFill>
              </a:defRPr>
            </a:pPr>
            <a:r>
              <a:t>question_generation — model, types, complexity, validation</a:t>
            </a:r>
          </a:p>
          <a:p>
            <a:pPr>
              <a:lnSpc>
                <a:spcPct val="120000"/>
              </a:lnSpc>
              <a:spcAft>
                <a:spcPts val="600"/>
              </a:spcAft>
              <a:defRPr sz="1300">
                <a:solidFill>
                  <a:srgbClr val="233045"/>
                </a:solidFill>
              </a:defRPr>
            </a:pPr>
            <a:r>
              <a:t>answer_generation — model, provider, timestamps, num_answers</a:t>
            </a:r>
          </a:p>
          <a:p>
            <a:pPr>
              <a:lnSpc>
                <a:spcPct val="120000"/>
              </a:lnSpc>
              <a:spcAft>
                <a:spcPts val="600"/>
              </a:spcAft>
              <a:defRPr sz="1300">
                <a:solidFill>
                  <a:srgbClr val="233045"/>
                </a:solidFill>
              </a:defRPr>
            </a:pPr>
            <a:r>
              <a:t>grading_summary — letter grade, confidence, method, judge</a:t>
            </a:r>
          </a:p>
          <a:p>
            <a:pPr>
              <a:lnSpc>
                <a:spcPct val="120000"/>
              </a:lnSpc>
              <a:spcAft>
                <a:spcPts val="600"/>
              </a:spcAft>
              <a:defRPr sz="1300">
                <a:solidFill>
                  <a:srgbClr val="233045"/>
                </a:solidFill>
              </a:defRPr>
            </a:pPr>
            <a:r>
              <a:t>run_metrics — stage timings (seconds), quality_counters</a:t>
            </a:r>
          </a:p>
          <a:p>
            <a:pPr>
              <a:lnSpc>
                <a:spcPct val="120000"/>
              </a:lnSpc>
              <a:spcAft>
                <a:spcPts val="600"/>
              </a:spcAft>
              <a:defRPr sz="1300">
                <a:solidFill>
                  <a:srgbClr val="233045"/>
                </a:solidFill>
              </a:defRPr>
            </a:pPr>
            <a:r>
              <a:t>Legacy: top-level hallucination_checks[] or pair.grading</a:t>
            </a:r>
          </a:p>
        </p:txBody>
      </p:sp>
      <p:sp>
        <p:nvSpPr>
          <p:cNvPr id="6" name="TextBox 5"/>
          <p:cNvSpPr txBox="1"/>
          <p:nvPr/>
        </p:nvSpPr>
        <p:spPr>
          <a:xfrm>
            <a:off x="502920" y="6446520"/>
            <a:ext cx="11064240" cy="320040"/>
          </a:xfrm>
          <a:prstGeom prst="rect">
            <a:avLst/>
          </a:prstGeom>
          <a:noFill/>
        </p:spPr>
        <p:txBody>
          <a:bodyPr wrap="none">
            <a:spAutoFit/>
          </a:bodyPr>
          <a:lstStyle/>
          <a:p>
            <a:pPr algn="r">
              <a:defRPr sz="900">
                <a:solidFill>
                  <a:srgbClr val="5A6880"/>
                </a:solidFill>
              </a:defRPr>
            </a:pPr>
            <a:r>
              <a:t>Schema: run_qa_pipeline combined_result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658368"/>
          </a:xfrm>
          <a:prstGeom prst="rect">
            <a:avLst/>
          </a:prstGeom>
          <a:noFill/>
        </p:spPr>
        <p:txBody>
          <a:bodyPr wrap="none">
            <a:spAutoFit/>
          </a:bodyPr>
          <a:lstStyle/>
          <a:p>
            <a:pPr>
              <a:defRPr sz="2800" b="1">
                <a:solidFill>
                  <a:srgbClr val="0F2C60"/>
                </a:solidFill>
              </a:defRPr>
            </a:pPr>
            <a:r>
              <a:t>Source document snapshot</a:t>
            </a:r>
          </a:p>
        </p:txBody>
      </p:sp>
      <p:sp>
        <p:nvSpPr>
          <p:cNvPr id="4" name="TextBox 3"/>
          <p:cNvSpPr txBox="1"/>
          <p:nvPr/>
        </p:nvSpPr>
        <p:spPr>
          <a:xfrm>
            <a:off x="502920" y="914400"/>
            <a:ext cx="10972800" cy="365760"/>
          </a:xfrm>
          <a:prstGeom prst="rect">
            <a:avLst/>
          </a:prstGeom>
          <a:noFill/>
        </p:spPr>
        <p:txBody>
          <a:bodyPr wrap="none">
            <a:spAutoFit/>
          </a:bodyPr>
          <a:lstStyle/>
          <a:p>
            <a:pPr>
              <a:defRPr sz="1200">
                <a:solidFill>
                  <a:srgbClr val="5A6880"/>
                </a:solidFill>
              </a:defRPr>
            </a:pPr>
            <a:r>
              <a:t>1445_pope_eugene</a:t>
            </a:r>
          </a:p>
        </p:txBody>
      </p:sp>
      <p:sp>
        <p:nvSpPr>
          <p:cNvPr id="5" name="Rounded Rectangle 4"/>
          <p:cNvSpPr/>
          <p:nvPr/>
        </p:nvSpPr>
        <p:spPr>
          <a:xfrm>
            <a:off x="475488" y="1234440"/>
            <a:ext cx="11155680" cy="5074920"/>
          </a:xfrm>
          <a:prstGeom prst="roundRect">
            <a:avLst/>
          </a:prstGeom>
          <a:solidFill>
            <a:srgbClr val="F6FAFF"/>
          </a:solidFill>
          <a:ln>
            <a:solidFill>
              <a:srgbClr val="C8D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10835640" cy="4800600"/>
          </a:xfrm>
          <a:prstGeom prst="rect">
            <a:avLst/>
          </a:prstGeom>
          <a:noFill/>
        </p:spPr>
        <p:txBody>
          <a:bodyPr wrap="square" anchor="t">
            <a:spAutoFit/>
          </a:bodyPr>
          <a:lstStyle/>
          <a:p>
            <a:pPr>
              <a:lnSpc>
                <a:spcPct val="115000"/>
              </a:lnSpc>
              <a:defRPr sz="1100">
                <a:solidFill>
                  <a:srgbClr val="233045"/>
                </a:solidFill>
              </a:defRPr>
            </a:pPr>
            <a:r>
              <a:t>id: 1445_pope_eugene</a:t>
            </a:r>
            <a:br/>
            <a:r>
              <a:t>title: 1445_pope_eugene</a:t>
            </a:r>
            <a:br/>
            <a:r>
              <a:t>source: /workspace/data/1445_pope_eugene.txt  type: text_document</a:t>
            </a:r>
            <a:br/>
            <a:br/>
            <a:r>
              <a:t>content (excerpt):</a:t>
            </a:r>
            <a:br/>
            <a:r>
              <a:t>In 1445 Pope Eugene IV summoned him to Rome to paint the frescoes of the Chapel of the Holy Sacrament at St Peter's, later demolished by Pope Paul III. Vasari claims that at this time Fra Angelico was offered the Archbishopric of Florence by Pope Nicholas V, and that he refused it, recommending another friar for the position. The story seems possible and even likely. However, if Vasari's date is correct, then the pope must have been Eugene IV and not Nicholas, who was elected Pope only on 6 March 1447. Moreover, the archbishop in 1446–1459 was the Dominican Antoninus of Florence (Antonio Pierozzi), canonized by Pope Adrian VI in 1523. In 1447 Fra Angelico was in Orvieto with his pupil, Benozzo Gozzoli, executing works for the Cathedral. Among his other pupils were Zanobi Strozzi.  The Perugia Altarpiece (Italian: "Pala di Perugia") is a painting by the Italian early Renaissance painter …</a:t>
            </a:r>
          </a:p>
        </p:txBody>
      </p:sp>
      <p:sp>
        <p:nvSpPr>
          <p:cNvPr id="7" name="TextBox 6"/>
          <p:cNvSpPr txBox="1"/>
          <p:nvPr/>
        </p:nvSpPr>
        <p:spPr>
          <a:xfrm>
            <a:off x="502920" y="6446520"/>
            <a:ext cx="11064240" cy="320040"/>
          </a:xfrm>
          <a:prstGeom prst="rect">
            <a:avLst/>
          </a:prstGeom>
          <a:noFill/>
        </p:spPr>
        <p:txBody>
          <a:bodyPr wrap="none">
            <a:spAutoFit/>
          </a:bodyPr>
          <a:lstStyle/>
          <a:p>
            <a:pPr algn="r">
              <a:defRPr sz="900">
                <a:solidFill>
                  <a:srgbClr val="5A6880"/>
                </a:solidFill>
              </a:defRPr>
            </a:pPr>
            <a:r>
              <a:t>document.content is what grading and citations 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658368"/>
          </a:xfrm>
          <a:prstGeom prst="rect">
            <a:avLst/>
          </a:prstGeom>
          <a:noFill/>
        </p:spPr>
        <p:txBody>
          <a:bodyPr wrap="none">
            <a:spAutoFit/>
          </a:bodyPr>
          <a:lstStyle/>
          <a:p>
            <a:pPr>
              <a:defRPr sz="2800" b="1">
                <a:solidFill>
                  <a:srgbClr val="0F2C60"/>
                </a:solidFill>
              </a:defRPr>
            </a:pPr>
            <a:r>
              <a:t>Grading summary &amp; run metrics</a:t>
            </a:r>
          </a:p>
        </p:txBody>
      </p:sp>
      <p:sp>
        <p:nvSpPr>
          <p:cNvPr id="4" name="TextBox 3"/>
          <p:cNvSpPr txBox="1"/>
          <p:nvPr/>
        </p:nvSpPr>
        <p:spPr>
          <a:xfrm>
            <a:off x="502920" y="914400"/>
            <a:ext cx="10972800" cy="365760"/>
          </a:xfrm>
          <a:prstGeom prst="rect">
            <a:avLst/>
          </a:prstGeom>
          <a:noFill/>
        </p:spPr>
        <p:txBody>
          <a:bodyPr wrap="none">
            <a:spAutoFit/>
          </a:bodyPr>
          <a:lstStyle/>
          <a:p>
            <a:pPr>
              <a:defRPr sz="1200">
                <a:solidFill>
                  <a:srgbClr val="5A6880"/>
                </a:solidFill>
              </a:defRPr>
            </a:pPr>
            <a:r>
              <a:t>Rollups for this document</a:t>
            </a:r>
          </a:p>
        </p:txBody>
      </p:sp>
      <p:graphicFrame>
        <p:nvGraphicFramePr>
          <p:cNvPr id="5" name="Table 4"/>
          <p:cNvGraphicFramePr>
            <a:graphicFrameLocks noGrp="1"/>
          </p:cNvGraphicFramePr>
          <p:nvPr/>
        </p:nvGraphicFramePr>
        <p:xfrm>
          <a:off x="548640" y="1280160"/>
          <a:ext cx="10972800" cy="3840480"/>
        </p:xfrm>
        <a:graphic>
          <a:graphicData uri="http://schemas.openxmlformats.org/drawingml/2006/table">
            <a:tbl>
              <a:tblPr firstRow="1" bandRow="1">
                <a:tableStyleId>{5C22544A-7EE6-4342-B048-85BDC9FD1C3A}</a:tableStyleId>
              </a:tblPr>
              <a:tblGrid>
                <a:gridCol w="3108960"/>
                <a:gridCol w="7863840"/>
              </a:tblGrid>
              <a:tr h="480060">
                <a:tc>
                  <a:txBody>
                    <a:bodyPr/>
                    <a:lstStyle/>
                    <a:p>
                      <a:pPr>
                        <a:defRPr b="1" sz="1200">
                          <a:solidFill>
                            <a:srgbClr val="FFFFFF"/>
                          </a:solidFill>
                        </a:defRPr>
                      </a:pPr>
                      <a:r>
                        <a:t>Measure</a:t>
                      </a:r>
                    </a:p>
                  </a:txBody>
                  <a:tcPr>
                    <a:solidFill>
                      <a:srgbClr val="2153A0"/>
                    </a:solidFill>
                  </a:tcPr>
                </a:tc>
                <a:tc>
                  <a:txBody>
                    <a:bodyPr/>
                    <a:lstStyle/>
                    <a:p>
                      <a:pPr>
                        <a:defRPr b="1" sz="1200">
                          <a:solidFill>
                            <a:srgbClr val="FFFFFF"/>
                          </a:solidFill>
                        </a:defRPr>
                      </a:pPr>
                      <a:r>
                        <a:t>Value</a:t>
                      </a:r>
                    </a:p>
                  </a:txBody>
                  <a:tcPr>
                    <a:solidFill>
                      <a:srgbClr val="2153A0"/>
                    </a:solidFill>
                  </a:tcPr>
                </a:tc>
              </a:tr>
              <a:tr h="480060">
                <a:tc>
                  <a:txBody>
                    <a:bodyPr/>
                    <a:lstStyle/>
                    <a:p>
                      <a:pPr>
                        <a:defRPr sz="1100">
                          <a:solidFill>
                            <a:srgbClr val="233045"/>
                          </a:solidFill>
                        </a:defRPr>
                      </a:pPr>
                      <a:r>
                        <a:t>overall_grade</a:t>
                      </a:r>
                    </a:p>
                  </a:txBody>
                  <a:tcPr>
                    <a:solidFill>
                      <a:srgbClr val="F6FAFF"/>
                    </a:solidFill>
                  </a:tcPr>
                </a:tc>
                <a:tc>
                  <a:txBody>
                    <a:bodyPr/>
                    <a:lstStyle/>
                    <a:p>
                      <a:pPr>
                        <a:defRPr sz="1100">
                          <a:solidFill>
                            <a:srgbClr val="233045"/>
                          </a:solidFill>
                        </a:defRPr>
                      </a:pPr>
                      <a:r>
                        <a:t>A</a:t>
                      </a:r>
                    </a:p>
                  </a:txBody>
                  <a:tcPr>
                    <a:solidFill>
                      <a:srgbClr val="F6FAFF"/>
                    </a:solidFill>
                  </a:tcPr>
                </a:tc>
              </a:tr>
              <a:tr h="480060">
                <a:tc>
                  <a:txBody>
                    <a:bodyPr/>
                    <a:lstStyle/>
                    <a:p>
                      <a:pPr>
                        <a:defRPr sz="1100">
                          <a:solidFill>
                            <a:srgbClr val="233045"/>
                          </a:solidFill>
                        </a:defRPr>
                      </a:pPr>
                      <a:r>
                        <a:t>overall_confidence</a:t>
                      </a:r>
                    </a:p>
                  </a:txBody>
                  <a:tcPr>
                    <a:solidFill>
                      <a:srgbClr val="FFFFFF"/>
                    </a:solidFill>
                  </a:tcPr>
                </a:tc>
                <a:tc>
                  <a:txBody>
                    <a:bodyPr/>
                    <a:lstStyle/>
                    <a:p>
                      <a:pPr>
                        <a:defRPr sz="1100">
                          <a:solidFill>
                            <a:srgbClr val="233045"/>
                          </a:solidFill>
                        </a:defRPr>
                      </a:pPr>
                      <a:r>
                        <a:t>1.0</a:t>
                      </a:r>
                    </a:p>
                  </a:txBody>
                  <a:tcPr>
                    <a:solidFill>
                      <a:srgbClr val="FFFFFF"/>
                    </a:solidFill>
                  </a:tcPr>
                </a:tc>
              </a:tr>
              <a:tr h="480060">
                <a:tc>
                  <a:txBody>
                    <a:bodyPr/>
                    <a:lstStyle/>
                    <a:p>
                      <a:pPr>
                        <a:defRPr sz="1100">
                          <a:solidFill>
                            <a:srgbClr val="233045"/>
                          </a:solidFill>
                        </a:defRPr>
                      </a:pPr>
                      <a:r>
                        <a:t>grading_method</a:t>
                      </a:r>
                    </a:p>
                  </a:txBody>
                  <a:tcPr>
                    <a:solidFill>
                      <a:srgbClr val="F6FAFF"/>
                    </a:solidFill>
                  </a:tcPr>
                </a:tc>
                <a:tc>
                  <a:txBody>
                    <a:bodyPr/>
                    <a:lstStyle/>
                    <a:p>
                      <a:pPr>
                        <a:defRPr sz="1100">
                          <a:solidFill>
                            <a:srgbClr val="233045"/>
                          </a:solidFill>
                        </a:defRPr>
                      </a:pPr>
                      <a:r>
                        <a:t>average_of_each_qa_pair</a:t>
                      </a:r>
                    </a:p>
                  </a:txBody>
                  <a:tcPr>
                    <a:solidFill>
                      <a:srgbClr val="F6FAFF"/>
                    </a:solidFill>
                  </a:tcPr>
                </a:tc>
              </a:tr>
              <a:tr h="480060">
                <a:tc>
                  <a:txBody>
                    <a:bodyPr/>
                    <a:lstStyle/>
                    <a:p>
                      <a:pPr>
                        <a:defRPr sz="1100">
                          <a:solidFill>
                            <a:srgbClr val="233045"/>
                          </a:solidFill>
                        </a:defRPr>
                      </a:pPr>
                      <a:r>
                        <a:t>judge_model</a:t>
                      </a:r>
                    </a:p>
                  </a:txBody>
                  <a:tcPr>
                    <a:solidFill>
                      <a:srgbClr val="FFFFFF"/>
                    </a:solidFill>
                  </a:tcPr>
                </a:tc>
                <a:tc>
                  <a:txBody>
                    <a:bodyPr/>
                    <a:lstStyle/>
                    <a:p>
                      <a:pPr>
                        <a:defRPr sz="1100">
                          <a:solidFill>
                            <a:srgbClr val="233045"/>
                          </a:solidFill>
                        </a:defRPr>
                      </a:pPr>
                      <a:r>
                        <a:t>N/A (overall score is the average of each QA pair)</a:t>
                      </a:r>
                    </a:p>
                  </a:txBody>
                  <a:tcPr>
                    <a:solidFill>
                      <a:srgbClr val="FFFFFF"/>
                    </a:solidFill>
                  </a:tcPr>
                </a:tc>
              </a:tr>
              <a:tr h="480060">
                <a:tc>
                  <a:txBody>
                    <a:bodyPr/>
                    <a:lstStyle/>
                    <a:p>
                      <a:pPr>
                        <a:defRPr sz="1100">
                          <a:solidFill>
                            <a:srgbClr val="233045"/>
                          </a:solidFill>
                        </a:defRPr>
                      </a:pPr>
                      <a:r>
                        <a:t>time_question_gen_s</a:t>
                      </a:r>
                    </a:p>
                  </a:txBody>
                  <a:tcPr>
                    <a:solidFill>
                      <a:srgbClr val="F6FAFF"/>
                    </a:solidFill>
                  </a:tcPr>
                </a:tc>
                <a:tc>
                  <a:txBody>
                    <a:bodyPr/>
                    <a:lstStyle/>
                    <a:p>
                      <a:pPr>
                        <a:defRPr sz="1100">
                          <a:solidFill>
                            <a:srgbClr val="233045"/>
                          </a:solidFill>
                        </a:defRPr>
                      </a:pPr>
                      <a:r>
                        <a:t>116.343</a:t>
                      </a:r>
                    </a:p>
                  </a:txBody>
                  <a:tcPr>
                    <a:solidFill>
                      <a:srgbClr val="F6FAFF"/>
                    </a:solidFill>
                  </a:tcPr>
                </a:tc>
              </a:tr>
              <a:tr h="480060">
                <a:tc>
                  <a:txBody>
                    <a:bodyPr/>
                    <a:lstStyle/>
                    <a:p>
                      <a:pPr>
                        <a:defRPr sz="1100">
                          <a:solidFill>
                            <a:srgbClr val="233045"/>
                          </a:solidFill>
                        </a:defRPr>
                      </a:pPr>
                      <a:r>
                        <a:t>time_answer_gen_s</a:t>
                      </a:r>
                    </a:p>
                  </a:txBody>
                  <a:tcPr>
                    <a:solidFill>
                      <a:srgbClr val="FFFFFF"/>
                    </a:solidFill>
                  </a:tcPr>
                </a:tc>
                <a:tc>
                  <a:txBody>
                    <a:bodyPr/>
                    <a:lstStyle/>
                    <a:p>
                      <a:pPr>
                        <a:defRPr sz="1100">
                          <a:solidFill>
                            <a:srgbClr val="233045"/>
                          </a:solidFill>
                        </a:defRPr>
                      </a:pPr>
                      <a:r>
                        <a:t>45.838</a:t>
                      </a:r>
                    </a:p>
                  </a:txBody>
                  <a:tcPr>
                    <a:solidFill>
                      <a:srgbClr val="FFFFFF"/>
                    </a:solidFill>
                  </a:tcPr>
                </a:tc>
              </a:tr>
              <a:tr h="480060">
                <a:tc>
                  <a:txBody>
                    <a:bodyPr/>
                    <a:lstStyle/>
                    <a:p>
                      <a:pPr>
                        <a:defRPr sz="1100">
                          <a:solidFill>
                            <a:srgbClr val="233045"/>
                          </a:solidFill>
                        </a:defRPr>
                      </a:pPr>
                      <a:r>
                        <a:t>time_grading_s</a:t>
                      </a:r>
                    </a:p>
                  </a:txBody>
                  <a:tcPr>
                    <a:solidFill>
                      <a:srgbClr val="F6FAFF"/>
                    </a:solidFill>
                  </a:tcPr>
                </a:tc>
                <a:tc>
                  <a:txBody>
                    <a:bodyPr/>
                    <a:lstStyle/>
                    <a:p>
                      <a:pPr>
                        <a:defRPr sz="1100">
                          <a:solidFill>
                            <a:srgbClr val="233045"/>
                          </a:solidFill>
                        </a:defRPr>
                      </a:pPr>
                      <a:r>
                        <a:t>5.206</a:t>
                      </a:r>
                    </a:p>
                  </a:txBody>
                  <a:tcPr>
                    <a:solidFill>
                      <a:srgbClr val="F6FAFF"/>
                    </a:solidFill>
                  </a:tcPr>
                </a:tc>
              </a:tr>
            </a:tbl>
          </a:graphicData>
        </a:graphic>
      </p:graphicFrame>
      <p:sp>
        <p:nvSpPr>
          <p:cNvPr id="6" name="TextBox 5"/>
          <p:cNvSpPr txBox="1"/>
          <p:nvPr/>
        </p:nvSpPr>
        <p:spPr>
          <a:xfrm>
            <a:off x="548640" y="5257800"/>
            <a:ext cx="10972800" cy="914400"/>
          </a:xfrm>
          <a:prstGeom prst="rect">
            <a:avLst/>
          </a:prstGeom>
          <a:noFill/>
        </p:spPr>
        <p:txBody>
          <a:bodyPr wrap="square">
            <a:spAutoFit/>
          </a:bodyPr>
          <a:lstStyle/>
          <a:p>
            <a:pPr>
              <a:lnSpc>
                <a:spcPct val="120000"/>
              </a:lnSpc>
              <a:spcAft>
                <a:spcPts val="600"/>
              </a:spcAft>
              <a:defRPr sz="1300">
                <a:solidFill>
                  <a:srgbClr val="233045"/>
                </a:solidFill>
              </a:defRPr>
            </a:pPr>
            <a:r>
              <a:t>Questions: complexity=advanced, types=analysis, aggregation, comparison, inference, causal, temporal, multi_hop, synt…</a:t>
            </a:r>
          </a:p>
        </p:txBody>
      </p:sp>
      <p:sp>
        <p:nvSpPr>
          <p:cNvPr id="7" name="TextBox 6"/>
          <p:cNvSpPr txBox="1"/>
          <p:nvPr/>
        </p:nvSpPr>
        <p:spPr>
          <a:xfrm>
            <a:off x="502920" y="6446520"/>
            <a:ext cx="11064240" cy="320040"/>
          </a:xfrm>
          <a:prstGeom prst="rect">
            <a:avLst/>
          </a:prstGeom>
          <a:noFill/>
        </p:spPr>
        <p:txBody>
          <a:bodyPr wrap="none">
            <a:spAutoFit/>
          </a:bodyPr>
          <a:lstStyle/>
          <a:p>
            <a:pPr algn="r">
              <a:defRPr sz="900">
                <a:solidFill>
                  <a:srgbClr val="5A6880"/>
                </a:solidFill>
              </a:defRPr>
            </a:pPr>
            <a:r>
              <a:t>answer_generation.num_answers = len(qa_pairs)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658368"/>
          </a:xfrm>
          <a:prstGeom prst="rect">
            <a:avLst/>
          </a:prstGeom>
          <a:noFill/>
        </p:spPr>
        <p:txBody>
          <a:bodyPr wrap="none">
            <a:spAutoFit/>
          </a:bodyPr>
          <a:lstStyle/>
          <a:p>
            <a:pPr>
              <a:defRPr sz="2800" b="1">
                <a:solidFill>
                  <a:srgbClr val="0F2C60"/>
                </a:solidFill>
              </a:defRPr>
            </a:pPr>
            <a:r>
              <a:t>QA pairs (3 slots)</a:t>
            </a:r>
          </a:p>
        </p:txBody>
      </p:sp>
      <p:sp>
        <p:nvSpPr>
          <p:cNvPr id="4" name="TextBox 3"/>
          <p:cNvSpPr txBox="1"/>
          <p:nvPr/>
        </p:nvSpPr>
        <p:spPr>
          <a:xfrm>
            <a:off x="502920" y="914400"/>
            <a:ext cx="10972800" cy="365760"/>
          </a:xfrm>
          <a:prstGeom prst="rect">
            <a:avLst/>
          </a:prstGeom>
          <a:noFill/>
        </p:spPr>
        <p:txBody>
          <a:bodyPr wrap="none">
            <a:spAutoFit/>
          </a:bodyPr>
          <a:lstStyle/>
          <a:p>
            <a:pPr>
              <a:defRPr sz="1200">
                <a:solidFill>
                  <a:srgbClr val="5A6880"/>
                </a:solidFill>
              </a:defRPr>
            </a:pPr>
            <a:r>
              <a:t>Question / answer excerpts and per-slot grounding.</a:t>
            </a:r>
          </a:p>
        </p:txBody>
      </p:sp>
      <p:graphicFrame>
        <p:nvGraphicFramePr>
          <p:cNvPr id="5" name="Table 4"/>
          <p:cNvGraphicFramePr>
            <a:graphicFrameLocks noGrp="1"/>
          </p:cNvGraphicFramePr>
          <p:nvPr/>
        </p:nvGraphicFramePr>
        <p:xfrm>
          <a:off x="457200" y="1234440"/>
          <a:ext cx="11064238" cy="4983480"/>
        </p:xfrm>
        <a:graphic>
          <a:graphicData uri="http://schemas.openxmlformats.org/drawingml/2006/table">
            <a:tbl>
              <a:tblPr firstRow="1" bandRow="1">
                <a:tableStyleId>{5C22544A-7EE6-4342-B048-85BDC9FD1C3A}</a:tableStyleId>
              </a:tblPr>
              <a:tblGrid>
                <a:gridCol w="502920"/>
                <a:gridCol w="3977639"/>
                <a:gridCol w="3977639"/>
                <a:gridCol w="2606040"/>
              </a:tblGrid>
              <a:tr h="1245870">
                <a:tc>
                  <a:txBody>
                    <a:bodyPr/>
                    <a:lstStyle/>
                    <a:p>
                      <a:pPr>
                        <a:defRPr b="1" sz="1000">
                          <a:solidFill>
                            <a:srgbClr val="FFFFFF"/>
                          </a:solidFill>
                        </a:defRPr>
                      </a:pPr>
                      <a:r>
                        <a:t>#</a:t>
                      </a:r>
                    </a:p>
                  </a:txBody>
                  <a:tcPr>
                    <a:solidFill>
                      <a:srgbClr val="2153A0"/>
                    </a:solidFill>
                  </a:tcPr>
                </a:tc>
                <a:tc>
                  <a:txBody>
                    <a:bodyPr/>
                    <a:lstStyle/>
                    <a:p>
                      <a:pPr>
                        <a:defRPr b="1" sz="1000">
                          <a:solidFill>
                            <a:srgbClr val="FFFFFF"/>
                          </a:solidFill>
                        </a:defRPr>
                      </a:pPr>
                      <a:r>
                        <a:t>Question (excerpt)</a:t>
                      </a:r>
                    </a:p>
                  </a:txBody>
                  <a:tcPr>
                    <a:solidFill>
                      <a:srgbClr val="2153A0"/>
                    </a:solidFill>
                  </a:tcPr>
                </a:tc>
                <a:tc>
                  <a:txBody>
                    <a:bodyPr/>
                    <a:lstStyle/>
                    <a:p>
                      <a:pPr>
                        <a:defRPr b="1" sz="1000">
                          <a:solidFill>
                            <a:srgbClr val="FFFFFF"/>
                          </a:solidFill>
                        </a:defRPr>
                      </a:pPr>
                      <a:r>
                        <a:t>Answer (excerpt)</a:t>
                      </a:r>
                    </a:p>
                  </a:txBody>
                  <a:tcPr>
                    <a:solidFill>
                      <a:srgbClr val="2153A0"/>
                    </a:solidFill>
                  </a:tcPr>
                </a:tc>
                <a:tc>
                  <a:txBody>
                    <a:bodyPr/>
                    <a:lstStyle/>
                    <a:p>
                      <a:pPr>
                        <a:defRPr b="1" sz="1000">
                          <a:solidFill>
                            <a:srgbClr val="FFFFFF"/>
                          </a:solidFill>
                        </a:defRPr>
                      </a:pPr>
                      <a:r>
                        <a:t>Check</a:t>
                      </a:r>
                    </a:p>
                  </a:txBody>
                  <a:tcPr>
                    <a:solidFill>
                      <a:srgbClr val="2153A0"/>
                    </a:solidFill>
                  </a:tcPr>
                </a:tc>
              </a:tr>
              <a:tr h="1245870">
                <a:tc>
                  <a:txBody>
                    <a:bodyPr/>
                    <a:lstStyle/>
                    <a:p>
                      <a:pPr>
                        <a:defRPr sz="900">
                          <a:solidFill>
                            <a:srgbClr val="233045"/>
                          </a:solidFill>
                        </a:defRPr>
                      </a:pPr>
                      <a:r>
                        <a:t>1</a:t>
                      </a:r>
                    </a:p>
                  </a:txBody>
                  <a:tcPr>
                    <a:solidFill>
                      <a:srgbClr val="F6FAFF"/>
                    </a:solidFill>
                  </a:tcPr>
                </a:tc>
                <a:tc>
                  <a:txBody>
                    <a:bodyPr/>
                    <a:lstStyle/>
                    <a:p>
                      <a:pPr>
                        <a:defRPr sz="900">
                          <a:solidFill>
                            <a:srgbClr val="233045"/>
                          </a:solidFill>
                        </a:defRPr>
                      </a:pPr>
                      <a:r>
                        <a:t>Analyze the document regarding Fra Angelico to identify the specific chronological inconsistencies in Vasari's account: if the story of the Archbishopric offer occurred in 1445, which pope would have…</a:t>
                      </a:r>
                    </a:p>
                  </a:txBody>
                  <a:tcPr>
                    <a:solidFill>
                      <a:srgbClr val="F6FAFF"/>
                    </a:solidFill>
                  </a:tcPr>
                </a:tc>
                <a:tc>
                  <a:txBody>
                    <a:bodyPr/>
                    <a:lstStyle/>
                    <a:p>
                      <a:pPr>
                        <a:defRPr sz="900">
                          <a:solidFill>
                            <a:srgbClr val="233045"/>
                          </a:solidFill>
                        </a:defRPr>
                      </a:pPr>
                      <a:r>
                        <a:t>If the story occurred in 1445, the pope would have been Eugene IV instead of Nicholas V, and the actual Archbishop of Florence serving during 1446–1459 was the Dominican Antoninus of Florence (Antoni…</a:t>
                      </a:r>
                    </a:p>
                  </a:txBody>
                  <a:tcPr>
                    <a:solidFill>
                      <a:srgbClr val="F6FAFF"/>
                    </a:solidFill>
                  </a:tcPr>
                </a:tc>
                <a:tc>
                  <a:txBody>
                    <a:bodyPr/>
                    <a:lstStyle/>
                    <a:p>
                      <a:pPr>
                        <a:defRPr sz="900">
                          <a:solidFill>
                            <a:srgbClr val="233045"/>
                          </a:solidFill>
                        </a:defRPr>
                      </a:pPr>
                      <a:r>
                        <a:t>g=True c=1.0</a:t>
                      </a:r>
                    </a:p>
                    <a:p>
                      <a:r>
                        <a:t>llm</a:t>
                      </a:r>
                    </a:p>
                  </a:txBody>
                  <a:tcPr>
                    <a:solidFill>
                      <a:srgbClr val="F6FAFF"/>
                    </a:solidFill>
                  </a:tcPr>
                </a:tc>
              </a:tr>
              <a:tr h="1245870">
                <a:tc>
                  <a:txBody>
                    <a:bodyPr/>
                    <a:lstStyle/>
                    <a:p>
                      <a:pPr>
                        <a:defRPr sz="900">
                          <a:solidFill>
                            <a:srgbClr val="233045"/>
                          </a:solidFill>
                        </a:defRPr>
                      </a:pPr>
                      <a:r>
                        <a:t>2</a:t>
                      </a:r>
                    </a:p>
                  </a:txBody>
                  <a:tcPr>
                    <a:solidFill>
                      <a:srgbClr val="FFFFFF"/>
                    </a:solidFill>
                  </a:tcPr>
                </a:tc>
                <a:tc>
                  <a:txBody>
                    <a:bodyPr/>
                    <a:lstStyle/>
                    <a:p>
                      <a:pPr>
                        <a:defRPr sz="900">
                          <a:solidFill>
                            <a:srgbClr val="233045"/>
                          </a:solidFill>
                        </a:defRPr>
                      </a:pPr>
                      <a:r>
                        <a:t>Drawing from the timeline of papal elections and the specific dates provided regarding the Archbishop of Florence, what logical contradiction exists in Vasari's account that proves the Pope offering …</a:t>
                      </a:r>
                    </a:p>
                  </a:txBody>
                  <a:tcPr>
                    <a:solidFill>
                      <a:srgbClr val="FFFFFF"/>
                    </a:solidFill>
                  </a:tcPr>
                </a:tc>
                <a:tc>
                  <a:txBody>
                    <a:bodyPr/>
                    <a:lstStyle/>
                    <a:p>
                      <a:pPr>
                        <a:defRPr sz="900">
                          <a:solidFill>
                            <a:srgbClr val="233045"/>
                          </a:solidFill>
                        </a:defRPr>
                      </a:pPr>
                      <a:r>
                        <a:t>Vasari's account contains a chronological contradiction because Nicholas V was not elected Pope until 6 March 1447, whereas the text states that if Vasari's date (1445) is correct, the Pope must have…</a:t>
                      </a:r>
                    </a:p>
                  </a:txBody>
                  <a:tcPr>
                    <a:solidFill>
                      <a:srgbClr val="FFFFFF"/>
                    </a:solidFill>
                  </a:tcPr>
                </a:tc>
                <a:tc>
                  <a:txBody>
                    <a:bodyPr/>
                    <a:lstStyle/>
                    <a:p>
                      <a:pPr>
                        <a:defRPr sz="900">
                          <a:solidFill>
                            <a:srgbClr val="233045"/>
                          </a:solidFill>
                        </a:defRPr>
                      </a:pPr>
                      <a:r>
                        <a:t>g=True c=1.0</a:t>
                      </a:r>
                    </a:p>
                    <a:p>
                      <a:r>
                        <a:t>llm</a:t>
                      </a:r>
                    </a:p>
                  </a:txBody>
                  <a:tcPr>
                    <a:solidFill>
                      <a:srgbClr val="FFFFFF"/>
                    </a:solidFill>
                  </a:tcPr>
                </a:tc>
              </a:tr>
              <a:tr h="1245870">
                <a:tc>
                  <a:txBody>
                    <a:bodyPr/>
                    <a:lstStyle/>
                    <a:p>
                      <a:pPr>
                        <a:defRPr sz="900">
                          <a:solidFill>
                            <a:srgbClr val="233045"/>
                          </a:solidFill>
                        </a:defRPr>
                      </a:pPr>
                      <a:r>
                        <a:t>3</a:t>
                      </a:r>
                    </a:p>
                  </a:txBody>
                  <a:tcPr>
                    <a:solidFill>
                      <a:srgbClr val="F6FAFF"/>
                    </a:solidFill>
                  </a:tcPr>
                </a:tc>
                <a:tc>
                  <a:txBody>
                    <a:bodyPr/>
                    <a:lstStyle/>
                    <a:p>
                      <a:pPr>
                        <a:defRPr sz="900">
                          <a:solidFill>
                            <a:srgbClr val="233045"/>
                          </a:solidFill>
                        </a:defRPr>
                      </a:pPr>
                      <a:r>
                        <a:t>Drawing from the timeline of papal elections and the specific dates provided regarding the Archbishop of Florence, what logical contradiction exists in Vasari's account that proves the Pope offering …</a:t>
                      </a:r>
                    </a:p>
                  </a:txBody>
                  <a:tcPr>
                    <a:solidFill>
                      <a:srgbClr val="F6FAFF"/>
                    </a:solidFill>
                  </a:tcPr>
                </a:tc>
                <a:tc>
                  <a:txBody>
                    <a:bodyPr/>
                    <a:lstStyle/>
                    <a:p>
                      <a:pPr>
                        <a:defRPr sz="900">
                          <a:solidFill>
                            <a:srgbClr val="233045"/>
                          </a:solidFill>
                        </a:defRPr>
                      </a:pPr>
                      <a:r>
                        <a:t>The logical contradiction is that if Vasari's date of 1445 is correct, the Pope offering the Archbishopric must have been Eugene IV, not Nicholas V, because Nicholas V was not elected Pope until 6 Ma…</a:t>
                      </a:r>
                    </a:p>
                  </a:txBody>
                  <a:tcPr>
                    <a:solidFill>
                      <a:srgbClr val="F6FAFF"/>
                    </a:solidFill>
                  </a:tcPr>
                </a:tc>
                <a:tc>
                  <a:txBody>
                    <a:bodyPr/>
                    <a:lstStyle/>
                    <a:p>
                      <a:pPr>
                        <a:defRPr sz="900">
                          <a:solidFill>
                            <a:srgbClr val="233045"/>
                          </a:solidFill>
                        </a:defRPr>
                      </a:pPr>
                      <a:r>
                        <a:t>g=True c=1.0</a:t>
                      </a:r>
                    </a:p>
                    <a:p>
                      <a:r>
                        <a:t>llm</a:t>
                      </a:r>
                    </a:p>
                  </a:txBody>
                  <a:tcPr>
                    <a:solidFill>
                      <a:srgbClr val="F6FAFF"/>
                    </a:solidFill>
                  </a:tcPr>
                </a:tc>
              </a:tr>
            </a:tbl>
          </a:graphicData>
        </a:graphic>
      </p:graphicFrame>
      <p:sp>
        <p:nvSpPr>
          <p:cNvPr id="6" name="TextBox 5"/>
          <p:cNvSpPr txBox="1"/>
          <p:nvPr/>
        </p:nvSpPr>
        <p:spPr>
          <a:xfrm>
            <a:off x="502920" y="6446520"/>
            <a:ext cx="11064240" cy="320040"/>
          </a:xfrm>
          <a:prstGeom prst="rect">
            <a:avLst/>
          </a:prstGeom>
          <a:noFill/>
        </p:spPr>
        <p:txBody>
          <a:bodyPr wrap="none">
            <a:spAutoFit/>
          </a:bodyPr>
          <a:lstStyle/>
          <a:p>
            <a:pPr algn="r">
              <a:defRPr sz="900">
                <a:solidFill>
                  <a:srgbClr val="5A6880"/>
                </a:solidFill>
              </a:defRPr>
            </a:pPr>
            <a:r>
              <a:t>Full text in JSON qa_pairs[].question /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658368"/>
          </a:xfrm>
          <a:prstGeom prst="rect">
            <a:avLst/>
          </a:prstGeom>
          <a:noFill/>
        </p:spPr>
        <p:txBody>
          <a:bodyPr wrap="none">
            <a:spAutoFit/>
          </a:bodyPr>
          <a:lstStyle/>
          <a:p>
            <a:pPr>
              <a:defRPr sz="2800" b="1">
                <a:solidFill>
                  <a:srgbClr val="0F2C60"/>
                </a:solidFill>
              </a:defRPr>
            </a:pPr>
            <a:r>
              <a:t>Generation metadata</a:t>
            </a:r>
          </a:p>
        </p:txBody>
      </p:sp>
      <p:sp>
        <p:nvSpPr>
          <p:cNvPr id="4" name="TextBox 3"/>
          <p:cNvSpPr txBox="1"/>
          <p:nvPr/>
        </p:nvSpPr>
        <p:spPr>
          <a:xfrm>
            <a:off x="502920" y="914400"/>
            <a:ext cx="10972800" cy="365760"/>
          </a:xfrm>
          <a:prstGeom prst="rect">
            <a:avLst/>
          </a:prstGeom>
          <a:noFill/>
        </p:spPr>
        <p:txBody>
          <a:bodyPr wrap="none">
            <a:spAutoFit/>
          </a:bodyPr>
          <a:lstStyle/>
          <a:p>
            <a:pPr>
              <a:defRPr sz="1200">
                <a:solidFill>
                  <a:srgbClr val="5A6880"/>
                </a:solidFill>
              </a:defRPr>
            </a:pPr>
            <a:r>
              <a:t>Provenance for questions and answers</a:t>
            </a:r>
          </a:p>
        </p:txBody>
      </p:sp>
      <p:sp>
        <p:nvSpPr>
          <p:cNvPr id="5" name="TextBox 4"/>
          <p:cNvSpPr txBox="1"/>
          <p:nvPr/>
        </p:nvSpPr>
        <p:spPr>
          <a:xfrm>
            <a:off x="594360" y="1325880"/>
            <a:ext cx="10881360" cy="4754880"/>
          </a:xfrm>
          <a:prstGeom prst="rect">
            <a:avLst/>
          </a:prstGeom>
          <a:noFill/>
        </p:spPr>
        <p:txBody>
          <a:bodyPr wrap="square">
            <a:spAutoFit/>
          </a:bodyPr>
          <a:lstStyle/>
          <a:p>
            <a:pPr>
              <a:lnSpc>
                <a:spcPct val="120000"/>
              </a:lnSpc>
              <a:spcAft>
                <a:spcPts val="600"/>
              </a:spcAft>
              <a:defRPr sz="1300">
                <a:solidFill>
                  <a:srgbClr val="233045"/>
                </a:solidFill>
              </a:defRPr>
            </a:pPr>
            <a:r>
              <a:t>Question model: Qwen/Qwen3.5-9B (vllm)</a:t>
            </a:r>
          </a:p>
          <a:p>
            <a:pPr>
              <a:lnSpc>
                <a:spcPct val="120000"/>
              </a:lnSpc>
              <a:spcAft>
                <a:spcPts val="600"/>
              </a:spcAft>
              <a:defRPr sz="1300">
                <a:solidFill>
                  <a:srgbClr val="233045"/>
                </a:solidFill>
              </a:defRPr>
            </a:pPr>
            <a:r>
              <a:t>Question time: 2026-05-28T15:13:01.603309+08:00 Asia/Singapore</a:t>
            </a:r>
          </a:p>
          <a:p>
            <a:pPr>
              <a:lnSpc>
                <a:spcPct val="120000"/>
              </a:lnSpc>
              <a:spcAft>
                <a:spcPts val="600"/>
              </a:spcAft>
              <a:defRPr sz="1300">
                <a:solidFill>
                  <a:srgbClr val="233045"/>
                </a:solidFill>
              </a:defRPr>
            </a:pPr>
            <a:r>
              <a:t>Answer model: Qwen/Qwen3.5-9B (vllm)</a:t>
            </a:r>
          </a:p>
          <a:p>
            <a:pPr>
              <a:lnSpc>
                <a:spcPct val="120000"/>
              </a:lnSpc>
              <a:spcAft>
                <a:spcPts val="600"/>
              </a:spcAft>
              <a:defRPr sz="1300">
                <a:solidFill>
                  <a:srgbClr val="233045"/>
                </a:solidFill>
              </a:defRPr>
            </a:pPr>
            <a:r>
              <a:t>Answer time: 2026-05-28T15:13:50.808116+08:00 Asia/Singapore</a:t>
            </a:r>
          </a:p>
          <a:p>
            <a:pPr>
              <a:lnSpc>
                <a:spcPct val="120000"/>
              </a:lnSpc>
              <a:spcAft>
                <a:spcPts val="600"/>
              </a:spcAft>
              <a:defRPr sz="1300">
                <a:solidFill>
                  <a:srgbClr val="233045"/>
                </a:solidFill>
              </a:defRPr>
            </a:pPr>
            <a:r>
              <a:t>num_answers: 3</a:t>
            </a:r>
          </a:p>
          <a:p>
            <a:pPr>
              <a:lnSpc>
                <a:spcPct val="120000"/>
              </a:lnSpc>
              <a:spcAft>
                <a:spcPts val="600"/>
              </a:spcAft>
              <a:defRPr sz="1300">
                <a:solidFill>
                  <a:srgbClr val="233045"/>
                </a:solidFill>
              </a:defRPr>
            </a:pPr>
            <a:r>
              <a:t>hallucination_check dicts in qa_pairs: 3; legacy top-level list length: 0</a:t>
            </a:r>
          </a:p>
        </p:txBody>
      </p:sp>
      <p:sp>
        <p:nvSpPr>
          <p:cNvPr id="6" name="TextBox 5"/>
          <p:cNvSpPr txBox="1"/>
          <p:nvPr/>
        </p:nvSpPr>
        <p:spPr>
          <a:xfrm>
            <a:off x="502920" y="6446520"/>
            <a:ext cx="11064240" cy="320040"/>
          </a:xfrm>
          <a:prstGeom prst="rect">
            <a:avLst/>
          </a:prstGeom>
          <a:noFill/>
        </p:spPr>
        <p:txBody>
          <a:bodyPr wrap="none">
            <a:spAutoFit/>
          </a:bodyPr>
          <a:lstStyle/>
          <a:p>
            <a:pPr algn="r">
              <a:defRPr sz="900">
                <a:solidFill>
                  <a:srgbClr val="5A6880"/>
                </a:solidFill>
              </a:defRPr>
            </a:pPr>
            <a:r>
              <a:t>1445_pope_eugene_0045_analysis.json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