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521440" cy="475488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F172A"/>
                </a:solidFill>
                <a:latin typeface="Calibri"/>
              </a:defRPr>
            </a:pPr>
            <a:r>
              <a:t>QAGRedo workflow — per-document execution (editable)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56032" y="1389888"/>
            <a:ext cx="822960" cy="603504"/>
          </a:xfrm>
          <a:prstGeom prst="roundRect">
            <a:avLst/>
          </a:prstGeom>
          <a:solidFill>
            <a:srgbClr val="F8FAFC"/>
          </a:solidFill>
          <a:ln w="1397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F172A"/>
                </a:solidFill>
                <a:latin typeface="Calibri"/>
              </a:defRPr>
            </a:pPr>
            <a:r>
              <a:t>Source</a:t>
            </a:r>
            <a:br/>
            <a:r>
              <a:t>document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179576" y="1389888"/>
            <a:ext cx="822960" cy="603504"/>
          </a:xfrm>
          <a:prstGeom prst="roundRect">
            <a:avLst/>
          </a:prstGeom>
          <a:solidFill>
            <a:srgbClr val="F8FAFC"/>
          </a:solidFill>
          <a:ln w="1397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F172A"/>
                </a:solidFill>
                <a:latin typeface="Calibri"/>
              </a:defRPr>
            </a:pPr>
            <a:r>
              <a:t>Generate initial</a:t>
            </a:r>
            <a:br/>
            <a:r>
              <a:t>questions (N)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03120" y="1389888"/>
            <a:ext cx="822960" cy="603504"/>
          </a:xfrm>
          <a:prstGeom prst="roundRect">
            <a:avLst/>
          </a:prstGeom>
          <a:solidFill>
            <a:srgbClr val="F8FAFC"/>
          </a:solidFill>
          <a:ln w="1397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F172A"/>
                </a:solidFill>
                <a:latin typeface="Calibri"/>
              </a:defRPr>
            </a:pPr>
            <a:r>
              <a:t>Current question</a:t>
            </a:r>
            <a:br/>
            <a:r>
              <a:t>(slot i)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026664" y="1389888"/>
            <a:ext cx="822960" cy="603504"/>
          </a:xfrm>
          <a:prstGeom prst="roundRect">
            <a:avLst/>
          </a:prstGeom>
          <a:solidFill>
            <a:srgbClr val="F8FAFC"/>
          </a:solidFill>
          <a:ln w="1397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F172A"/>
                </a:solidFill>
                <a:latin typeface="Calibri"/>
              </a:defRPr>
            </a:pPr>
            <a:r>
              <a:t>Answer</a:t>
            </a:r>
            <a:br/>
            <a:r>
              <a:t>generation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50208" y="1389888"/>
            <a:ext cx="822960" cy="603504"/>
          </a:xfrm>
          <a:prstGeom prst="roundRect">
            <a:avLst/>
          </a:prstGeom>
          <a:solidFill>
            <a:srgbClr val="F8FAFC"/>
          </a:solidFill>
          <a:ln w="1397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F172A"/>
                </a:solidFill>
                <a:latin typeface="Calibri"/>
              </a:defRPr>
            </a:pPr>
            <a:r>
              <a:t>Keyword check</a:t>
            </a:r>
            <a:br/>
            <a:r>
              <a:t>(optional pass)</a:t>
            </a:r>
          </a:p>
        </p:txBody>
      </p:sp>
      <p:sp>
        <p:nvSpPr>
          <p:cNvPr id="8" name="Decision 7"/>
          <p:cNvSpPr/>
          <p:nvPr/>
        </p:nvSpPr>
        <p:spPr>
          <a:xfrm>
            <a:off x="4974336" y="1408176"/>
            <a:ext cx="621792" cy="621792"/>
          </a:xfrm>
          <a:prstGeom prst="flowChartDecision">
            <a:avLst/>
          </a:prstGeom>
          <a:solidFill>
            <a:srgbClr val="F8FAFC"/>
          </a:solidFill>
          <a:ln w="1397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50">
                <a:solidFill>
                  <a:srgbClr val="0F172A"/>
                </a:solidFill>
                <a:latin typeface="Calibri"/>
              </a:defRPr>
            </a:pPr>
            <a:r>
              <a:t>Grounded +</a:t>
            </a:r>
            <a:br/>
            <a:r>
              <a:t>conf ≥</a:t>
            </a:r>
            <a:br/>
            <a:r>
              <a:t>threshold?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60" y="1389888"/>
            <a:ext cx="804672" cy="603504"/>
          </a:xfrm>
          <a:prstGeom prst="roundRect">
            <a:avLst/>
          </a:prstGeom>
          <a:solidFill>
            <a:srgbClr val="DCFCE7"/>
          </a:solidFill>
          <a:ln w="1397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F172A"/>
                </a:solidFill>
                <a:latin typeface="Calibri"/>
              </a:defRPr>
            </a:pPr>
            <a:r>
              <a:t>Accept pair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50208" y="2395728"/>
            <a:ext cx="822960" cy="658368"/>
          </a:xfrm>
          <a:prstGeom prst="roundRect">
            <a:avLst/>
          </a:prstGeom>
          <a:solidFill>
            <a:srgbClr val="F8FAFC"/>
          </a:solidFill>
          <a:ln w="1397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F172A"/>
                </a:solidFill>
                <a:latin typeface="Calibri"/>
              </a:defRPr>
            </a:pPr>
            <a:r>
              <a:t>LLM judge fallback</a:t>
            </a:r>
            <a:br/>
            <a:r>
              <a:t>(Qwen) if needed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28032" y="3090672"/>
            <a:ext cx="1051560" cy="713232"/>
          </a:xfrm>
          <a:prstGeom prst="roundRect">
            <a:avLst/>
          </a:prstGeom>
          <a:solidFill>
            <a:srgbClr val="F8FAFC"/>
          </a:solidFill>
          <a:ln w="1397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0F172A"/>
                </a:solidFill>
                <a:latin typeface="Calibri"/>
              </a:defRPr>
            </a:pPr>
            <a:r>
              <a:t>Regenerate question</a:t>
            </a:r>
            <a:br/>
            <a:r>
              <a:t>for this slot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43800" y="1261872"/>
            <a:ext cx="4343400" cy="2788920"/>
          </a:xfrm>
          <a:prstGeom prst="roundRect">
            <a:avLst/>
          </a:prstGeom>
          <a:solidFill>
            <a:srgbClr val="F8FAFC"/>
          </a:solidFill>
          <a:ln w="1397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>
                <a:solidFill>
                  <a:srgbClr val="0F172A"/>
                </a:solidFill>
                <a:latin typeface="Calibri"/>
              </a:defRPr>
            </a:pPr>
            <a:r>
              <a:t>Save the QA pairs</a:t>
            </a:r>
            <a:br/>
            <a:r>
              <a:t>(after all N slots)</a:t>
            </a:r>
            <a:br/>
            <a:br/>
            <a:r>
              <a:t>• split supporting_evidence: strip list prefixes,</a:t>
            </a:r>
            <a:br/>
            <a:r>
              <a:t>  dedupe fragments, then map to citation_spans</a:t>
            </a:r>
            <a:br/>
            <a:r>
              <a:t>• citation_notes for fragments not in document</a:t>
            </a:r>
            <a:br/>
            <a:r>
              <a:t>• citation_alignment policy (off / annotate / strict)</a:t>
            </a:r>
            <a:br/>
            <a:r>
              <a:t>• hallucination_check in qa_pairs[]</a:t>
            </a:r>
            <a:br/>
            <a:r>
              <a:t>• grading_summary from final qa_pairs</a:t>
            </a:r>
            <a:br/>
            <a:r>
              <a:t>• save doc_&lt;id&gt;_analysis.json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43800" y="4187952"/>
            <a:ext cx="4343400" cy="2331720"/>
          </a:xfrm>
          <a:prstGeom prst="roundRect">
            <a:avLst/>
          </a:prstGeom>
          <a:solidFill>
            <a:srgbClr val="F8FAFC"/>
          </a:solidFill>
          <a:ln w="13970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900">
                <a:solidFill>
                  <a:srgbClr val="0F172A"/>
                </a:solidFill>
                <a:latin typeface="Calibri"/>
              </a:defRPr>
            </a:pPr>
            <a:r>
              <a:t>Final output schema</a:t>
            </a:r>
            <a:br/>
            <a:r>
              <a:t>• document</a:t>
            </a:r>
            <a:br/>
            <a:r>
              <a:t>• qa_pairs (question, answer,</a:t>
            </a:r>
            <a:br/>
            <a:r>
              <a:t>  hallucination_check,</a:t>
            </a:r>
            <a:br/>
            <a:r>
              <a:t>  citation_spans, citation_notes)</a:t>
            </a:r>
            <a:br/>
            <a:r>
              <a:t>• question_generation</a:t>
            </a:r>
            <a:br/>
            <a:r>
              <a:t>• answer_generation</a:t>
            </a:r>
            <a:br/>
            <a:r>
              <a:t>• grading_summary</a:t>
            </a:r>
            <a:br/>
            <a:r>
              <a:t>• run_metrics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078992" y="1691640"/>
            <a:ext cx="100584" cy="0"/>
          </a:xfrm>
          <a:prstGeom prst="line">
            <a:avLst/>
          </a:prstGeom>
          <a:ln w="15240">
            <a:solidFill>
              <a:srgbClr val="1D4E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002536" y="1691640"/>
            <a:ext cx="100584" cy="0"/>
          </a:xfrm>
          <a:prstGeom prst="line">
            <a:avLst/>
          </a:prstGeom>
          <a:ln w="15240">
            <a:solidFill>
              <a:srgbClr val="1D4E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926080" y="1691640"/>
            <a:ext cx="100584" cy="0"/>
          </a:xfrm>
          <a:prstGeom prst="line">
            <a:avLst/>
          </a:prstGeom>
          <a:ln w="15240">
            <a:solidFill>
              <a:srgbClr val="1D4E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849624" y="1691640"/>
            <a:ext cx="100584" cy="0"/>
          </a:xfrm>
          <a:prstGeom prst="line">
            <a:avLst/>
          </a:prstGeom>
          <a:ln w="15240">
            <a:solidFill>
              <a:srgbClr val="1D4E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773168" y="1691640"/>
            <a:ext cx="201168" cy="27432"/>
          </a:xfrm>
          <a:prstGeom prst="line">
            <a:avLst/>
          </a:prstGeom>
          <a:ln w="15240">
            <a:solidFill>
              <a:srgbClr val="1D4ED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416552" y="1572006"/>
            <a:ext cx="914400" cy="2667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 sz="750">
                <a:solidFill>
                  <a:srgbClr val="1D4ED8"/>
                </a:solidFill>
                <a:latin typeface="Calibri"/>
              </a:defRPr>
            </a:pPr>
            <a:r>
              <a:t>clear / high</a:t>
            </a:r>
            <a:br/>
            <a:r>
              <a:t>confidence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361688" y="1993392"/>
            <a:ext cx="0" cy="402336"/>
          </a:xfrm>
          <a:prstGeom prst="line">
            <a:avLst/>
          </a:prstGeom>
          <a:ln w="15240">
            <a:solidFill>
              <a:srgbClr val="1D4E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904488" y="2061210"/>
            <a:ext cx="914400" cy="2667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 sz="750">
                <a:solidFill>
                  <a:srgbClr val="1D4ED8"/>
                </a:solidFill>
                <a:latin typeface="Calibri"/>
              </a:defRPr>
            </a:pPr>
            <a:r>
              <a:t>low conf /</a:t>
            </a:r>
            <a:br/>
            <a:r>
              <a:t>flagged</a:t>
            </a:r>
          </a:p>
        </p:txBody>
      </p:sp>
      <p:cxnSp>
        <p:nvCxnSpPr>
          <p:cNvPr id="22" name="Connector 21"/>
          <p:cNvCxnSpPr/>
          <p:nvPr/>
        </p:nvCxnSpPr>
        <p:spPr>
          <a:xfrm flipV="1">
            <a:off x="4773168" y="2029968"/>
            <a:ext cx="512064" cy="694944"/>
          </a:xfrm>
          <a:prstGeom prst="line">
            <a:avLst/>
          </a:prstGeom>
          <a:ln w="15240">
            <a:solidFill>
              <a:srgbClr val="1D4E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5596128" y="1691640"/>
            <a:ext cx="256032" cy="27432"/>
          </a:xfrm>
          <a:prstGeom prst="line">
            <a:avLst/>
          </a:prstGeom>
          <a:ln w="15240">
            <a:solidFill>
              <a:srgbClr val="1D4E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266944" y="1572006"/>
            <a:ext cx="914400" cy="2667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 sz="750">
                <a:solidFill>
                  <a:srgbClr val="1D4ED8"/>
                </a:solidFill>
                <a:latin typeface="Calibri"/>
              </a:defRPr>
            </a:pPr>
            <a:r>
              <a:t>yes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285232" y="2029968"/>
            <a:ext cx="68580" cy="1060704"/>
          </a:xfrm>
          <a:prstGeom prst="line">
            <a:avLst/>
          </a:prstGeom>
          <a:ln w="15240">
            <a:solidFill>
              <a:srgbClr val="EF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862322" y="2426970"/>
            <a:ext cx="914400" cy="2667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 sz="750">
                <a:solidFill>
                  <a:srgbClr val="EF4444"/>
                </a:solidFill>
                <a:latin typeface="Calibri"/>
              </a:defRPr>
            </a:pPr>
            <a:r>
              <a:t>no</a:t>
            </a:r>
          </a:p>
        </p:txBody>
      </p:sp>
      <p:cxnSp>
        <p:nvCxnSpPr>
          <p:cNvPr id="27" name="Connector 26"/>
          <p:cNvCxnSpPr/>
          <p:nvPr/>
        </p:nvCxnSpPr>
        <p:spPr>
          <a:xfrm flipH="1" flipV="1">
            <a:off x="2514600" y="1993392"/>
            <a:ext cx="2313432" cy="1453896"/>
          </a:xfrm>
          <a:prstGeom prst="curvedConnector3">
            <a:avLst/>
          </a:prstGeom>
          <a:ln w="22225">
            <a:solidFill>
              <a:srgbClr val="EF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2606040" y="3246120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EF4444"/>
                </a:solidFill>
                <a:latin typeface="Calibri"/>
              </a:defRPr>
            </a:pPr>
            <a:r>
              <a:t>retry (max_question_regeneration_rounds)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656832" y="1691640"/>
            <a:ext cx="886968" cy="964692"/>
          </a:xfrm>
          <a:prstGeom prst="line">
            <a:avLst/>
          </a:prstGeom>
          <a:ln w="15240">
            <a:solidFill>
              <a:srgbClr val="1D4ED8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643116" y="2040636"/>
            <a:ext cx="914400" cy="2667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 sz="750">
                <a:solidFill>
                  <a:srgbClr val="1D4ED8"/>
                </a:solidFill>
                <a:latin typeface="Calibri"/>
              </a:defRPr>
            </a:pPr>
            <a:r>
              <a:t>all slots done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6032" y="6263640"/>
            <a:ext cx="11658600" cy="43891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 sz="850">
                <a:solidFill>
                  <a:srgbClr val="475569"/>
                </a:solidFill>
                <a:latin typeface="Calibri"/>
              </a:defRPr>
            </a:pPr>
            <a:r>
              <a:t>Source: run_qa_pipeline.py + utils/hallucination_checker.py (hybrid grading). Regenerate: python3 scripts/utils/build_qagredo_workflow_current_pptx.py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