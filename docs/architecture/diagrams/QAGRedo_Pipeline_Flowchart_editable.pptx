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91440"/>
            <a:ext cx="11521440" cy="4114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Calibri"/>
              </a:defRPr>
            </a:pPr>
            <a:r>
              <a:t>QAGRedo pipeline — core loop (per document)</a:t>
            </a:r>
          </a:p>
        </p:txBody>
      </p:sp>
      <p:sp>
        <p:nvSpPr>
          <p:cNvPr id="3" name="Terminator 2"/>
          <p:cNvSpPr/>
          <p:nvPr/>
        </p:nvSpPr>
        <p:spPr>
          <a:xfrm>
            <a:off x="4818888" y="621792"/>
            <a:ext cx="1325880" cy="365760"/>
          </a:xfrm>
          <a:prstGeom prst="flowChartTerminator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0F172A"/>
                </a:solidFill>
                <a:latin typeface="Calibri"/>
              </a:defRPr>
            </a:pPr>
            <a:r>
              <a:t>Start</a:t>
            </a:r>
          </a:p>
        </p:txBody>
      </p:sp>
      <p:sp>
        <p:nvSpPr>
          <p:cNvPr id="4" name="Process 3"/>
          <p:cNvSpPr/>
          <p:nvPr/>
        </p:nvSpPr>
        <p:spPr>
          <a:xfrm>
            <a:off x="4709160" y="1060704"/>
            <a:ext cx="1572768" cy="347472"/>
          </a:xfrm>
          <a:prstGeom prst="flowChartProcess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>
                <a:solidFill>
                  <a:srgbClr val="0F172A"/>
                </a:solidFill>
                <a:latin typeface="Calibri"/>
              </a:defRPr>
            </a:pPr>
            <a:r>
              <a:t>Load JSONL</a:t>
            </a:r>
            <a:br/>
            <a:r>
              <a:t>&amp; normalize</a:t>
            </a:r>
          </a:p>
        </p:txBody>
      </p:sp>
      <p:sp>
        <p:nvSpPr>
          <p:cNvPr id="5" name="Decision 4"/>
          <p:cNvSpPr/>
          <p:nvPr/>
        </p:nvSpPr>
        <p:spPr>
          <a:xfrm>
            <a:off x="4754880" y="1490472"/>
            <a:ext cx="530352" cy="530352"/>
          </a:xfrm>
          <a:prstGeom prst="flowChartDecision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50">
                <a:solidFill>
                  <a:srgbClr val="0F172A"/>
                </a:solidFill>
                <a:latin typeface="Calibri"/>
              </a:defRPr>
            </a:pPr>
            <a:r>
              <a:t>Another</a:t>
            </a:r>
            <a:br/>
            <a:r>
              <a:t>document?</a:t>
            </a:r>
          </a:p>
        </p:txBody>
      </p:sp>
      <p:sp>
        <p:nvSpPr>
          <p:cNvPr id="6" name="Terminator 5"/>
          <p:cNvSpPr/>
          <p:nvPr/>
        </p:nvSpPr>
        <p:spPr>
          <a:xfrm>
            <a:off x="9692640" y="1490472"/>
            <a:ext cx="1143000" cy="365760"/>
          </a:xfrm>
          <a:prstGeom prst="flowChartTerminator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0F172A"/>
                </a:solidFill>
                <a:latin typeface="Calibri"/>
              </a:defRPr>
            </a:pPr>
            <a:r>
              <a:t>Pipeline</a:t>
            </a:r>
            <a:br/>
            <a:r>
              <a:t>end</a:t>
            </a:r>
          </a:p>
        </p:txBody>
      </p:sp>
      <p:sp>
        <p:nvSpPr>
          <p:cNvPr id="7" name="Process 6"/>
          <p:cNvSpPr/>
          <p:nvPr/>
        </p:nvSpPr>
        <p:spPr>
          <a:xfrm>
            <a:off x="4663440" y="2066544"/>
            <a:ext cx="1664208" cy="347472"/>
          </a:xfrm>
          <a:prstGeom prst="flowChartProcess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>
                <a:solidFill>
                  <a:srgbClr val="0F172A"/>
                </a:solidFill>
                <a:latin typeface="Calibri"/>
              </a:defRPr>
            </a:pPr>
            <a:r>
              <a:t>generate_questions</a:t>
            </a:r>
            <a:br/>
            <a:r>
              <a:t>(N per doc)</a:t>
            </a:r>
          </a:p>
        </p:txBody>
      </p:sp>
      <p:sp>
        <p:nvSpPr>
          <p:cNvPr id="8" name="Decision 7"/>
          <p:cNvSpPr/>
          <p:nvPr/>
        </p:nvSpPr>
        <p:spPr>
          <a:xfrm>
            <a:off x="4754880" y="2523744"/>
            <a:ext cx="530352" cy="530352"/>
          </a:xfrm>
          <a:prstGeom prst="flowChartDecision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50">
                <a:solidFill>
                  <a:srgbClr val="0F172A"/>
                </a:solidFill>
                <a:latin typeface="Calibri"/>
              </a:defRPr>
            </a:pPr>
            <a:r>
              <a:t>For each</a:t>
            </a:r>
            <a:br/>
            <a:r>
              <a:t>slot 1..N?</a:t>
            </a:r>
          </a:p>
        </p:txBody>
      </p:sp>
      <p:sp>
        <p:nvSpPr>
          <p:cNvPr id="9" name="Process 8"/>
          <p:cNvSpPr/>
          <p:nvPr/>
        </p:nvSpPr>
        <p:spPr>
          <a:xfrm>
            <a:off x="4709160" y="3072384"/>
            <a:ext cx="1572768" cy="347472"/>
          </a:xfrm>
          <a:prstGeom prst="flowChartProcess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>
                <a:solidFill>
                  <a:srgbClr val="0F172A"/>
                </a:solidFill>
                <a:latin typeface="Calibri"/>
              </a:defRPr>
            </a:pPr>
            <a:r>
              <a:t>generate_answers</a:t>
            </a:r>
            <a:br/>
            <a:r>
              <a:t>(slot)</a:t>
            </a:r>
          </a:p>
        </p:txBody>
      </p:sp>
      <p:sp>
        <p:nvSpPr>
          <p:cNvPr id="10" name="Process 9"/>
          <p:cNvSpPr/>
          <p:nvPr/>
        </p:nvSpPr>
        <p:spPr>
          <a:xfrm>
            <a:off x="8138159" y="3072384"/>
            <a:ext cx="1353312" cy="347472"/>
          </a:xfrm>
          <a:prstGeom prst="flowChartProcess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>
                <a:solidFill>
                  <a:srgbClr val="0F172A"/>
                </a:solidFill>
                <a:latin typeface="Calibri"/>
              </a:defRPr>
            </a:pPr>
            <a:r>
              <a:t>generate_questions</a:t>
            </a:r>
            <a:br/>
            <a:r>
              <a:t>(×1 replace)</a:t>
            </a:r>
          </a:p>
        </p:txBody>
      </p:sp>
      <p:sp>
        <p:nvSpPr>
          <p:cNvPr id="11" name="Process 10"/>
          <p:cNvSpPr/>
          <p:nvPr/>
        </p:nvSpPr>
        <p:spPr>
          <a:xfrm>
            <a:off x="4727448" y="3529584"/>
            <a:ext cx="1536192" cy="347472"/>
          </a:xfrm>
          <a:prstGeom prst="flowChartProcess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>
                <a:solidFill>
                  <a:srgbClr val="0F172A"/>
                </a:solidFill>
                <a:latin typeface="Calibri"/>
              </a:defRPr>
            </a:pPr>
            <a:r>
              <a:t>grade + pair +</a:t>
            </a:r>
            <a:br/>
            <a:r>
              <a:t>grounding check</a:t>
            </a:r>
          </a:p>
        </p:txBody>
      </p:sp>
      <p:sp>
        <p:nvSpPr>
          <p:cNvPr id="12" name="Decision 11"/>
          <p:cNvSpPr/>
          <p:nvPr/>
        </p:nvSpPr>
        <p:spPr>
          <a:xfrm>
            <a:off x="4754880" y="3986784"/>
            <a:ext cx="530352" cy="530352"/>
          </a:xfrm>
          <a:prstGeom prst="flowChartDecision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50">
                <a:solidFill>
                  <a:srgbClr val="0F172A"/>
                </a:solidFill>
                <a:latin typeface="Calibri"/>
              </a:defRPr>
            </a:pPr>
            <a:r>
              <a:t>Passes</a:t>
            </a:r>
            <a:br/>
            <a:r>
              <a:t>quality gate?</a:t>
            </a:r>
          </a:p>
        </p:txBody>
      </p:sp>
      <p:sp>
        <p:nvSpPr>
          <p:cNvPr id="13" name="Decision 12"/>
          <p:cNvSpPr/>
          <p:nvPr/>
        </p:nvSpPr>
        <p:spPr>
          <a:xfrm>
            <a:off x="8202167" y="3986784"/>
            <a:ext cx="530352" cy="530352"/>
          </a:xfrm>
          <a:prstGeom prst="flowChartDecision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50">
                <a:solidFill>
                  <a:srgbClr val="0F172A"/>
                </a:solidFill>
                <a:latin typeface="Calibri"/>
              </a:defRPr>
            </a:pPr>
            <a:r>
              <a:t>Regeneration</a:t>
            </a:r>
            <a:br/>
            <a:r>
              <a:t>rounds left?</a:t>
            </a:r>
          </a:p>
        </p:txBody>
      </p:sp>
      <p:sp>
        <p:nvSpPr>
          <p:cNvPr id="14" name="Process 13"/>
          <p:cNvSpPr/>
          <p:nvPr/>
        </p:nvSpPr>
        <p:spPr>
          <a:xfrm>
            <a:off x="8229599" y="4690872"/>
            <a:ext cx="1261872" cy="329184"/>
          </a:xfrm>
          <a:prstGeom prst="flowChartProcess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>
                <a:solidFill>
                  <a:srgbClr val="0F172A"/>
                </a:solidFill>
                <a:latin typeface="Calibri"/>
              </a:defRPr>
            </a:pPr>
            <a:r>
              <a:t>Keep last</a:t>
            </a:r>
            <a:br/>
            <a:r>
              <a:t>attempt</a:t>
            </a:r>
          </a:p>
        </p:txBody>
      </p:sp>
      <p:sp>
        <p:nvSpPr>
          <p:cNvPr id="15" name="Decision 14"/>
          <p:cNvSpPr/>
          <p:nvPr/>
        </p:nvSpPr>
        <p:spPr>
          <a:xfrm>
            <a:off x="4754880" y="5148072"/>
            <a:ext cx="530352" cy="530352"/>
          </a:xfrm>
          <a:prstGeom prst="flowChartDecision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50">
                <a:solidFill>
                  <a:srgbClr val="0F172A"/>
                </a:solidFill>
                <a:latin typeface="Calibri"/>
              </a:defRPr>
            </a:pPr>
            <a:r>
              <a:t>More</a:t>
            </a:r>
            <a:br/>
            <a:r>
              <a:t>slots?</a:t>
            </a:r>
          </a:p>
        </p:txBody>
      </p:sp>
      <p:sp>
        <p:nvSpPr>
          <p:cNvPr id="16" name="Process 15"/>
          <p:cNvSpPr/>
          <p:nvPr/>
        </p:nvSpPr>
        <p:spPr>
          <a:xfrm>
            <a:off x="4690872" y="5696712"/>
            <a:ext cx="1627632" cy="365760"/>
          </a:xfrm>
          <a:prstGeom prst="flowChartProcess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>
                <a:solidFill>
                  <a:srgbClr val="0F172A"/>
                </a:solidFill>
                <a:latin typeface="Calibri"/>
              </a:defRPr>
            </a:pPr>
            <a:r>
              <a:t>save_results +</a:t>
            </a:r>
            <a:br/>
            <a:r>
              <a:t>GitHub publish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1828" y="987552"/>
            <a:ext cx="13716" cy="73152"/>
          </a:xfrm>
          <a:prstGeom prst="line">
            <a:avLst/>
          </a:prstGeom>
          <a:ln w="1397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020056" y="1408176"/>
            <a:ext cx="475488" cy="82296"/>
          </a:xfrm>
          <a:prstGeom prst="line">
            <a:avLst/>
          </a:prstGeom>
          <a:ln w="1397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285232" y="1673352"/>
            <a:ext cx="4407408" cy="82296"/>
          </a:xfrm>
          <a:prstGeom prst="line">
            <a:avLst/>
          </a:prstGeom>
          <a:ln w="1397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031736" y="1612900"/>
            <a:ext cx="914400" cy="203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700">
                <a:solidFill>
                  <a:srgbClr val="2563EB"/>
                </a:solidFill>
                <a:latin typeface="Calibri"/>
              </a:defRPr>
            </a:pPr>
            <a:r>
              <a:t>no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020056" y="2020824"/>
            <a:ext cx="475488" cy="45720"/>
          </a:xfrm>
          <a:prstGeom prst="line">
            <a:avLst/>
          </a:prstGeom>
          <a:ln w="1397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800600" y="1942084"/>
            <a:ext cx="914400" cy="203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700">
                <a:solidFill>
                  <a:srgbClr val="2563EB"/>
                </a:solidFill>
                <a:latin typeface="Calibri"/>
              </a:defRPr>
            </a:pPr>
            <a:r>
              <a:t>yes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5020056" y="2414016"/>
            <a:ext cx="475488" cy="109728"/>
          </a:xfrm>
          <a:prstGeom prst="line">
            <a:avLst/>
          </a:prstGeom>
          <a:ln w="1397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020056" y="3054096"/>
            <a:ext cx="475488" cy="18288"/>
          </a:xfrm>
          <a:prstGeom prst="line">
            <a:avLst/>
          </a:prstGeom>
          <a:ln w="1397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800600" y="2961640"/>
            <a:ext cx="914400" cy="203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700">
                <a:solidFill>
                  <a:srgbClr val="2563EB"/>
                </a:solidFill>
                <a:latin typeface="Calibri"/>
              </a:defRPr>
            </a:pPr>
            <a:r>
              <a:t>yes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285232" y="2788920"/>
            <a:ext cx="219456" cy="2907792"/>
          </a:xfrm>
          <a:prstGeom prst="line">
            <a:avLst/>
          </a:prstGeom>
          <a:ln w="1397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937760" y="4141216"/>
            <a:ext cx="914400" cy="203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700">
                <a:solidFill>
                  <a:srgbClr val="2563EB"/>
                </a:solidFill>
                <a:latin typeface="Calibri"/>
              </a:defRPr>
            </a:pPr>
            <a:r>
              <a:t>no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95544" y="3419856"/>
            <a:ext cx="0" cy="109728"/>
          </a:xfrm>
          <a:prstGeom prst="line">
            <a:avLst/>
          </a:prstGeom>
          <a:ln w="1397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5020056" y="3877056"/>
            <a:ext cx="475488" cy="109728"/>
          </a:xfrm>
          <a:prstGeom prst="line">
            <a:avLst/>
          </a:prstGeom>
          <a:ln w="1397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020056" y="4517136"/>
            <a:ext cx="0" cy="630936"/>
          </a:xfrm>
          <a:prstGeom prst="line">
            <a:avLst/>
          </a:prstGeom>
          <a:ln w="1397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62856" y="4731004"/>
            <a:ext cx="914400" cy="203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700">
                <a:solidFill>
                  <a:srgbClr val="2563EB"/>
                </a:solidFill>
                <a:latin typeface="Calibri"/>
              </a:defRPr>
            </a:pPr>
            <a:r>
              <a:t>yes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285232" y="4251960"/>
            <a:ext cx="2916935" cy="0"/>
          </a:xfrm>
          <a:prstGeom prst="line">
            <a:avLst/>
          </a:prstGeom>
          <a:ln w="1397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286499" y="4150360"/>
            <a:ext cx="914400" cy="203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700">
                <a:solidFill>
                  <a:srgbClr val="DC2626"/>
                </a:solidFill>
                <a:latin typeface="Calibri"/>
              </a:defRPr>
            </a:pPr>
            <a:r>
              <a:t>no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8467343" y="3419856"/>
            <a:ext cx="347472" cy="566928"/>
          </a:xfrm>
          <a:prstGeom prst="line">
            <a:avLst/>
          </a:prstGeom>
          <a:ln w="1397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183879" y="3601720"/>
            <a:ext cx="914400" cy="203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700">
                <a:solidFill>
                  <a:srgbClr val="DC2626"/>
                </a:solidFill>
                <a:latin typeface="Calibri"/>
              </a:defRPr>
            </a:pPr>
            <a:r>
              <a:t>yes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5495544" y="3072384"/>
            <a:ext cx="3319271" cy="0"/>
          </a:xfrm>
          <a:prstGeom prst="curvedConnector3">
            <a:avLst/>
          </a:prstGeom>
          <a:ln w="15875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720840" y="214884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650" i="1">
                <a:solidFill>
                  <a:srgbClr val="2563EB"/>
                </a:solidFill>
                <a:latin typeface="Calibri"/>
              </a:defRPr>
            </a:pPr>
            <a:r>
              <a:t>re-answer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467343" y="4517136"/>
            <a:ext cx="393192" cy="173736"/>
          </a:xfrm>
          <a:prstGeom prst="line">
            <a:avLst/>
          </a:prstGeom>
          <a:ln w="1397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206739" y="4502404"/>
            <a:ext cx="914400" cy="203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700">
                <a:solidFill>
                  <a:srgbClr val="DC2626"/>
                </a:solidFill>
                <a:latin typeface="Calibri"/>
              </a:defRPr>
            </a:pPr>
            <a:r>
              <a:t>no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5020056" y="4855464"/>
            <a:ext cx="3209543" cy="822960"/>
          </a:xfrm>
          <a:prstGeom prst="line">
            <a:avLst/>
          </a:prstGeom>
          <a:ln w="1397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754880" y="2788920"/>
            <a:ext cx="0" cy="2624328"/>
          </a:xfrm>
          <a:prstGeom prst="curvedConnector3">
            <a:avLst/>
          </a:prstGeom>
          <a:ln w="15875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246120" y="4617720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700">
                <a:solidFill>
                  <a:srgbClr val="2563EB"/>
                </a:solidFill>
                <a:latin typeface="Calibri"/>
              </a:defRPr>
            </a:pPr>
            <a:r>
              <a:t>yes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020056" y="5678424"/>
            <a:ext cx="484632" cy="18288"/>
          </a:xfrm>
          <a:prstGeom prst="line">
            <a:avLst/>
          </a:prstGeom>
          <a:ln w="1397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805172" y="5585968"/>
            <a:ext cx="914400" cy="203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700">
                <a:solidFill>
                  <a:srgbClr val="2563EB"/>
                </a:solidFill>
                <a:latin typeface="Calibri"/>
              </a:defRPr>
            </a:pPr>
            <a:r>
              <a:t>no</a:t>
            </a:r>
          </a:p>
        </p:txBody>
      </p:sp>
      <p:cxnSp>
        <p:nvCxnSpPr>
          <p:cNvPr id="45" name="Connector 44"/>
          <p:cNvCxnSpPr/>
          <p:nvPr/>
        </p:nvCxnSpPr>
        <p:spPr>
          <a:xfrm flipH="1" flipV="1">
            <a:off x="5020056" y="2020824"/>
            <a:ext cx="484632" cy="3675888"/>
          </a:xfrm>
          <a:prstGeom prst="curvedConnector3">
            <a:avLst/>
          </a:prstGeom>
          <a:ln w="15875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572000" y="96012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650">
                <a:solidFill>
                  <a:srgbClr val="2563EB"/>
                </a:solidFill>
                <a:latin typeface="Calibri"/>
              </a:defRPr>
            </a:pPr>
            <a:r>
              <a:t>next doc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" y="6419088"/>
            <a:ext cx="11521440" cy="38404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Calibri"/>
              </a:defRPr>
            </a:pPr>
            <a:r>
              <a:t>Slide 2: save / filter options. Regenerate: python3 scripts/utils/build_qagredo_pipeline_flowchart_pptx.py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91440"/>
            <a:ext cx="11521440" cy="4114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Calibri"/>
              </a:defRPr>
            </a:pPr>
            <a:r>
              <a:t>QAGRedo — save &amp; output shaping (after slot loop)</a:t>
            </a:r>
          </a:p>
        </p:txBody>
      </p:sp>
      <p:sp>
        <p:nvSpPr>
          <p:cNvPr id="3" name="Process 2"/>
          <p:cNvSpPr/>
          <p:nvPr/>
        </p:nvSpPr>
        <p:spPr>
          <a:xfrm>
            <a:off x="4480560" y="1691640"/>
            <a:ext cx="1600200" cy="365760"/>
          </a:xfrm>
          <a:prstGeom prst="flowChartProcess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>
                <a:solidFill>
                  <a:srgbClr val="0F172A"/>
                </a:solidFill>
                <a:latin typeface="Calibri"/>
              </a:defRPr>
            </a:pPr>
            <a:r>
              <a:t>QA pairs ready</a:t>
            </a:r>
            <a:br/>
            <a:r>
              <a:t>(for one document)</a:t>
            </a:r>
          </a:p>
        </p:txBody>
      </p:sp>
      <p:sp>
        <p:nvSpPr>
          <p:cNvPr id="4" name="Decision 3"/>
          <p:cNvSpPr/>
          <p:nvPr/>
        </p:nvSpPr>
        <p:spPr>
          <a:xfrm>
            <a:off x="4553712" y="2258568"/>
            <a:ext cx="530352" cy="530352"/>
          </a:xfrm>
          <a:prstGeom prst="flowChartDecision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50">
                <a:solidFill>
                  <a:srgbClr val="0F172A"/>
                </a:solidFill>
                <a:latin typeface="Calibri"/>
              </a:defRPr>
            </a:pPr>
            <a:r>
              <a:t>save_grounded</a:t>
            </a:r>
            <a:br/>
            <a:r>
              <a:t>only?</a:t>
            </a:r>
          </a:p>
        </p:txBody>
      </p:sp>
      <p:sp>
        <p:nvSpPr>
          <p:cNvPr id="5" name="Process 4"/>
          <p:cNvSpPr/>
          <p:nvPr/>
        </p:nvSpPr>
        <p:spPr>
          <a:xfrm>
            <a:off x="2606040" y="2834640"/>
            <a:ext cx="1261872" cy="365760"/>
          </a:xfrm>
          <a:prstGeom prst="flowChartProcess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>
                <a:solidFill>
                  <a:srgbClr val="0F172A"/>
                </a:solidFill>
                <a:latin typeface="Calibri"/>
              </a:defRPr>
            </a:pPr>
            <a:r>
              <a:t>Filter pairs</a:t>
            </a:r>
            <a:br/>
            <a:r>
              <a:t>by gate</a:t>
            </a:r>
          </a:p>
        </p:txBody>
      </p:sp>
      <p:sp>
        <p:nvSpPr>
          <p:cNvPr id="6" name="Process 5"/>
          <p:cNvSpPr/>
          <p:nvPr/>
        </p:nvSpPr>
        <p:spPr>
          <a:xfrm>
            <a:off x="6903720" y="2834640"/>
            <a:ext cx="1261872" cy="365760"/>
          </a:xfrm>
          <a:prstGeom prst="flowChartProcess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>
                <a:solidFill>
                  <a:srgbClr val="0F172A"/>
                </a:solidFill>
                <a:latin typeface="Calibri"/>
              </a:defRPr>
            </a:pPr>
            <a:r>
              <a:t>Pad</a:t>
            </a:r>
            <a:br/>
            <a:r>
              <a:t>placeholders</a:t>
            </a:r>
          </a:p>
        </p:txBody>
      </p:sp>
      <p:sp>
        <p:nvSpPr>
          <p:cNvPr id="7" name="Decision 6"/>
          <p:cNvSpPr/>
          <p:nvPr/>
        </p:nvSpPr>
        <p:spPr>
          <a:xfrm>
            <a:off x="4553712" y="3657600"/>
            <a:ext cx="530352" cy="530352"/>
          </a:xfrm>
          <a:prstGeom prst="flowChartDecision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650">
                <a:solidFill>
                  <a:srgbClr val="0F172A"/>
                </a:solidFill>
                <a:latin typeface="Calibri"/>
              </a:defRPr>
            </a:pPr>
            <a:r>
              <a:t>minimal_qa</a:t>
            </a:r>
            <a:br/>
            <a:r>
              <a:t>output?</a:t>
            </a:r>
          </a:p>
        </p:txBody>
      </p:sp>
      <p:sp>
        <p:nvSpPr>
          <p:cNvPr id="8" name="Process 7"/>
          <p:cNvSpPr/>
          <p:nvPr/>
        </p:nvSpPr>
        <p:spPr>
          <a:xfrm>
            <a:off x="2971800" y="4297680"/>
            <a:ext cx="1371600" cy="347472"/>
          </a:xfrm>
          <a:prstGeom prst="flowChartProcess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>
                <a:solidFill>
                  <a:srgbClr val="0F172A"/>
                </a:solidFill>
                <a:latin typeface="Calibri"/>
              </a:defRPr>
            </a:pPr>
            <a:r>
              <a:t>save minimal JSON</a:t>
            </a:r>
            <a:br/>
            <a:r>
              <a:t>(+ GitHub)</a:t>
            </a:r>
          </a:p>
        </p:txBody>
      </p:sp>
      <p:sp>
        <p:nvSpPr>
          <p:cNvPr id="9" name="Process 8"/>
          <p:cNvSpPr/>
          <p:nvPr/>
        </p:nvSpPr>
        <p:spPr>
          <a:xfrm>
            <a:off x="6172200" y="4297680"/>
            <a:ext cx="1371600" cy="347472"/>
          </a:xfrm>
          <a:prstGeom prst="flowChartProcess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>
                <a:solidFill>
                  <a:srgbClr val="0F172A"/>
                </a:solidFill>
                <a:latin typeface="Calibri"/>
              </a:defRPr>
            </a:pPr>
            <a:r>
              <a:t>save full JSON</a:t>
            </a:r>
            <a:br/>
            <a:r>
              <a:t>(+ GitHub)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4818888" y="2057400"/>
            <a:ext cx="461772" cy="201168"/>
          </a:xfrm>
          <a:prstGeom prst="line">
            <a:avLst/>
          </a:prstGeom>
          <a:ln w="1397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3867912" y="2523744"/>
            <a:ext cx="685800" cy="493776"/>
          </a:xfrm>
          <a:prstGeom prst="line">
            <a:avLst/>
          </a:prstGeom>
          <a:ln w="1397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753612" y="2669032"/>
            <a:ext cx="914400" cy="203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700">
                <a:solidFill>
                  <a:srgbClr val="2563EB"/>
                </a:solidFill>
                <a:latin typeface="Calibri"/>
              </a:defRPr>
            </a:pPr>
            <a:r>
              <a:t>yes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84064" y="2523744"/>
            <a:ext cx="1819656" cy="493776"/>
          </a:xfrm>
          <a:prstGeom prst="line">
            <a:avLst/>
          </a:prstGeom>
          <a:ln w="1397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536692" y="2669032"/>
            <a:ext cx="914400" cy="203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700">
                <a:solidFill>
                  <a:srgbClr val="2563EB"/>
                </a:solidFill>
                <a:latin typeface="Calibri"/>
              </a:defRPr>
            </a:pPr>
            <a:r>
              <a:t>no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36976" y="3200400"/>
            <a:ext cx="1581912" cy="457200"/>
          </a:xfrm>
          <a:prstGeom prst="line">
            <a:avLst/>
          </a:prstGeom>
          <a:ln w="1397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4818888" y="3200400"/>
            <a:ext cx="2715768" cy="457200"/>
          </a:xfrm>
          <a:prstGeom prst="line">
            <a:avLst/>
          </a:prstGeom>
          <a:ln w="1397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4343400" y="3922776"/>
            <a:ext cx="210312" cy="548640"/>
          </a:xfrm>
          <a:prstGeom prst="line">
            <a:avLst/>
          </a:prstGeom>
          <a:ln w="1397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991356" y="4095496"/>
            <a:ext cx="914400" cy="203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700">
                <a:solidFill>
                  <a:srgbClr val="2563EB"/>
                </a:solidFill>
                <a:latin typeface="Calibri"/>
              </a:defRPr>
            </a:pPr>
            <a:r>
              <a:t>yes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84064" y="3922776"/>
            <a:ext cx="1088136" cy="548640"/>
          </a:xfrm>
          <a:prstGeom prst="line">
            <a:avLst/>
          </a:prstGeom>
          <a:ln w="1397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70932" y="4095496"/>
            <a:ext cx="914400" cy="203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700">
                <a:solidFill>
                  <a:srgbClr val="2563EB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709160"/>
            <a:ext cx="10515600" cy="12344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Optional filters before write — same run_qa_pipeline stage, split here so the main flowchart stays readable.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419088"/>
            <a:ext cx="11521440" cy="38404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Calibri"/>
              </a:defRPr>
            </a:pPr>
            <a:r>
              <a:t>Regenerate: python3 scripts/utils/build_qagredo_pipeline_flowchart_pptx.py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