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visual_01_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9875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22F5F"/>
                </a:solidFill>
              </a:defRPr>
            </a:pPr>
            <a:r>
              <a:t>QAGRedo Workflow + LangChain/LangGraph Upgrade</a:t>
            </a:r>
          </a:p>
          <a:p>
            <a:pPr>
              <a:defRPr sz="2400">
                <a:solidFill>
                  <a:srgbClr val="42526C"/>
                </a:solidFill>
              </a:defRPr>
            </a:pPr>
            <a:r>
              <a:t>Minimal Workflow, Algorithms, and Engineering Tradeoffs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2. Why This Workflow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Business and technical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3045"/>
                </a:solidFill>
              </a:defRPr>
            </a:pPr>
            <a:r>
              <a:t>Goal: generate complex Q&amp;A grounded strictly in source documents.</a:t>
            </a:r>
          </a:p>
          <a:p>
            <a:pPr>
              <a:spcAft>
                <a:spcPts val="800"/>
              </a:spcAft>
              <a:defRPr sz="1900">
                <a:solidFill>
                  <a:srgbClr val="233045"/>
                </a:solidFill>
              </a:defRPr>
            </a:pPr>
            <a:r>
              <a:t>Problem: raw LLM output is fast but can be shallow, repetitive, or hallucinatory.</a:t>
            </a:r>
          </a:p>
          <a:p>
            <a:pPr>
              <a:spcAft>
                <a:spcPts val="800"/>
              </a:spcAft>
              <a:defRPr sz="1900">
                <a:solidFill>
                  <a:srgbClr val="233045"/>
                </a:solidFill>
              </a:defRPr>
            </a:pPr>
            <a:r>
              <a:t>Design response: multi-stage validation with adaptive fallback checks.</a:t>
            </a:r>
          </a:p>
          <a:p>
            <a:pPr>
              <a:spcAft>
                <a:spcPts val="800"/>
              </a:spcAft>
              <a:defRPr sz="1900">
                <a:solidFill>
                  <a:srgbClr val="233045"/>
                </a:solidFill>
              </a:defRPr>
            </a:pPr>
            <a:r>
              <a:t>Outcome target: high factual confidence with auditable evidence trail.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554480"/>
            <a:ext cx="548640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visual_02_problem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37960" y="5440680"/>
            <a:ext cx="1097280" cy="329184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2855"/>
                </a:solidFill>
              </a:defRPr>
            </a:pPr>
            <a:r>
              <a:t>Need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5440680"/>
            <a:ext cx="1097280" cy="329184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763412"/>
                </a:solidFill>
              </a:defRPr>
            </a:pPr>
            <a:r>
              <a:t>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5440680"/>
            <a:ext cx="1325880" cy="329184"/>
          </a:xfrm>
          <a:prstGeom prst="roundRect">
            <a:avLst/>
          </a:prstGeom>
          <a:solidFill>
            <a:srgbClr val="E9FCF4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5630"/>
                </a:solidFill>
              </a:defRPr>
            </a:pPr>
            <a:r>
              <a:t>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8440" y="5440680"/>
            <a:ext cx="1097280" cy="329184"/>
          </a:xfrm>
          <a:prstGeom prst="roundRect">
            <a:avLst/>
          </a:prstGeom>
          <a:solidFill>
            <a:srgbClr val="F0EC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A2478"/>
                </a:solidFill>
              </a:defRPr>
            </a:pPr>
            <a:r>
              <a:t>Target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3. Minimal 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Full pipeline from input to audited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526280"/>
            <a:ext cx="3611880" cy="1234440"/>
          </a:xfrm>
          <a:prstGeom prst="roundRect">
            <a:avLst/>
          </a:prstGeom>
          <a:solidFill>
            <a:srgbClr val="E8F1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192D55"/>
                </a:solidFill>
              </a:defRPr>
            </a:pPr>
            <a:r>
              <a:t>Lane A: Input + Preparation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Input routing by file type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Normalization + optional semantic enrich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4526280"/>
            <a:ext cx="3611880" cy="123444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192D55"/>
                </a:solidFill>
              </a:defRPr>
            </a:pPr>
            <a:r>
              <a:t>Lane B: Q/A Quality Loop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LangChain prompt/template/parsing path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Grounding, retries, and coverage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4526280"/>
            <a:ext cx="3108960" cy="123444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192D55"/>
                </a:solidFill>
              </a:defRPr>
            </a:pPr>
            <a:r>
              <a:t>Lane C: Grading + Output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Hybrid scoring path</a:t>
            </a:r>
          </a:p>
          <a:p>
            <a:pPr>
              <a:spcAft>
                <a:spcPts val="200"/>
              </a:spcAft>
              <a:defRPr sz="1200">
                <a:solidFill>
                  <a:srgbClr val="2D3A50"/>
                </a:solidFill>
              </a:defRPr>
            </a:pPr>
            <a:r>
              <a:t>Grade, issues, run summary + run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172200"/>
            <a:ext cx="10972800" cy="411480"/>
          </a:xfrm>
          <a:prstGeom prst="roundRect">
            <a:avLst/>
          </a:prstGeom>
          <a:solidFill>
            <a:srgbClr val="F0F6FF"/>
          </a:solidFill>
          <a:ln>
            <a:solidFill>
              <a:srgbClr val="AAB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386A"/>
                </a:solidFill>
              </a:defRPr>
            </a:pPr>
            <a:r>
              <a:t>Key takeaway: Single visual, three lanes: preparation, quality loop, and final audit output.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4. Runtime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Three-container design with explicit runtime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58368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4_architecture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502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074920"/>
            <a:ext cx="1965960" cy="914400"/>
          </a:xfrm>
          <a:prstGeom prst="roundRect">
            <a:avLst/>
          </a:prstGeom>
          <a:solidFill>
            <a:srgbClr val="E8F1FF"/>
          </a:solidFill>
          <a:ln>
            <a:solidFill>
              <a:srgbClr val="789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72E56"/>
                </a:solidFill>
              </a:defRPr>
            </a:pPr>
            <a:r>
              <a:t>qagredo-vllm</a:t>
            </a:r>
          </a:p>
          <a:p>
            <a:pPr>
              <a:defRPr sz="1100">
                <a:solidFill>
                  <a:srgbClr val="2D3A50"/>
                </a:solidFill>
              </a:defRPr>
            </a:pPr>
            <a:r>
              <a:t>Llama Q/A generator</a:t>
            </a:r>
            <a:br/>
            <a:r>
              <a:t>GPU 0 | Port ${VLLM_HOST_PORT}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5074920"/>
            <a:ext cx="2011680" cy="914400"/>
          </a:xfrm>
          <a:prstGeom prst="roundRect">
            <a:avLst/>
          </a:prstGeom>
          <a:solidFill>
            <a:srgbClr val="E9FCF4"/>
          </a:solidFill>
          <a:ln>
            <a:solidFill>
              <a:srgbClr val="789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72E56"/>
                </a:solidFill>
              </a:defRPr>
            </a:pPr>
            <a:r>
              <a:t>qagredo-runner</a:t>
            </a:r>
          </a:p>
          <a:p>
            <a:pPr>
              <a:defRPr sz="1100">
                <a:solidFill>
                  <a:srgbClr val="2D3A50"/>
                </a:solidFill>
              </a:defRPr>
            </a:pPr>
            <a:r>
              <a:t>Orchestrator</a:t>
            </a:r>
            <a:br/>
            <a:r>
              <a:t>CPU | internal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5074920"/>
            <a:ext cx="2148840" cy="914400"/>
          </a:xfrm>
          <a:prstGeom prst="roundRect">
            <a:avLst/>
          </a:prstGeom>
          <a:solidFill>
            <a:srgbClr val="F0ECFF"/>
          </a:solidFill>
          <a:ln>
            <a:solidFill>
              <a:srgbClr val="789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72E56"/>
                </a:solidFill>
              </a:defRPr>
            </a:pPr>
            <a:r>
              <a:t>qagredo-vllm-judge</a:t>
            </a:r>
          </a:p>
          <a:p>
            <a:pPr>
              <a:defRPr sz="1100">
                <a:solidFill>
                  <a:srgbClr val="2D3A50"/>
                </a:solidFill>
              </a:defRPr>
            </a:pPr>
            <a:r>
              <a:t>Qwen judge model</a:t>
            </a:r>
            <a:br/>
            <a:r>
              <a:t>GPU 1 | Port ${VLLM_JUDGE_HOST_PORT}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00200"/>
            <a:ext cx="4069080" cy="1143000"/>
          </a:xfrm>
          <a:prstGeom prst="roundRect">
            <a:avLst/>
          </a:prstGeom>
          <a:solidFill>
            <a:srgbClr val="E8F1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Generator service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qagredo-vllm | Llama | GPU 0 | :${VLLM_HOST_PORT}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Handles question + answer generation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926080"/>
            <a:ext cx="4069080" cy="114300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Judge service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qagredo-vllm-judge | Qwen | GPU 1 | :${VLLM_JUDGE_HOST_PORT}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Independent grounding verification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4251960"/>
            <a:ext cx="4069080" cy="114300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Runner service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qagredo-runner | CPU | internal network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Pipeline orchestration + semantic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5486400"/>
            <a:ext cx="4069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33045"/>
                </a:solidFill>
              </a:defRPr>
            </a:pPr>
            <a:r>
              <a:t>Separate judge model removes self-evaluation bias.</a:t>
            </a:r>
          </a:p>
          <a:p>
            <a:pPr>
              <a:spcAft>
                <a:spcPts val="800"/>
              </a:spcAft>
              <a:defRPr sz="1200">
                <a:solidFill>
                  <a:srgbClr val="233045"/>
                </a:solidFill>
              </a:defRPr>
            </a:pPr>
            <a:r>
              <a:t>GPU split avoids head-of-line blocking between generation and grading.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5. Pipeline Orchestration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Execution sequence with key 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057400" cy="2011680"/>
          </a:xfrm>
          <a:prstGeom prst="roundRect">
            <a:avLst/>
          </a:prstGeom>
          <a:solidFill>
            <a:srgbClr val="E8F1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Input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Load supported input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Normalize to JSONL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Optional semantic metadata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Prepare run metadata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737360"/>
            <a:ext cx="2194560" cy="2011680"/>
          </a:xfrm>
          <a:prstGeom prst="roundRect">
            <a:avLst/>
          </a:prstGeom>
          <a:solidFill>
            <a:srgbClr val="E2F5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Question Gen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Prompt + few-shot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Dedup (LLM or Jaccard)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Grounding + comp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737360"/>
            <a:ext cx="2194560" cy="2011680"/>
          </a:xfrm>
          <a:prstGeom prst="roundRect">
            <a:avLst/>
          </a:prstGeom>
          <a:solidFill>
            <a:srgbClr val="E8FCF2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Answer Gen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Structured answer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Grounding retries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Coverage rewrite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737360"/>
            <a:ext cx="2103120" cy="2011680"/>
          </a:xfrm>
          <a:prstGeom prst="roundRect">
            <a:avLst/>
          </a:prstGeom>
          <a:solidFill>
            <a:srgbClr val="EDE9FE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Grading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Hybrid checker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Semantic first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Judge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1737360"/>
            <a:ext cx="1371600" cy="2011680"/>
          </a:xfrm>
          <a:prstGeom prst="roundRect">
            <a:avLst/>
          </a:prstGeom>
          <a:solidFill>
            <a:srgbClr val="FFEEE1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Output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analysis.json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run_summary.json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run_metrics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timestamped path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423160"/>
            <a:ext cx="210311" cy="41148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5138928" y="2423160"/>
            <a:ext cx="237743" cy="41148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7607808" y="2423160"/>
            <a:ext cx="237743" cy="41148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9985248" y="2423160"/>
            <a:ext cx="182879" cy="41148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Deterministic stage order keeps behavior explainable and reproducible.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Each stage exposes explicit quality gates before proceeding downstream.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Audit outputs preserve both final verdicts and failure reasons.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6. Question Generation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10 types, benefits, examples, and why few-shot prevents trivial lookups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5394960" cy="3520440"/>
          </a:xfrm>
          <a:prstGeom prst="roundRect">
            <a:avLst/>
          </a:prstGeom>
          <a:solidFill>
            <a:srgbClr val="E9F2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Types 1-5 (Core Analytical)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1) Analysis -&gt; uncover drivers and dependencies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2) Aggregation -&gt; improve counting accuracy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3) Comparison -&gt; expose subtle differences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4) Inference -&gt; test implied understanding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5) Causal -&gt; validate cause-effect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463040"/>
            <a:ext cx="5394960" cy="352044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Types 6-10 (Advanced Reasoning)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6) Temporal -&gt; verify timeline consistency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7) Multi-hop -&gt; connect distant facts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8) Synthesis -&gt; integrate 3+ evidence points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9) Evaluation -&gt; rate claim support strength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10) Counterfactual -&gt; test causal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33045"/>
                </a:solidFill>
              </a:defRPr>
            </a:pPr>
            <a:r>
              <a:t>Few-shot effect: GOOD and BAD examples teach the model what 'complex' looks like, reducing trivial lookup questions.</a:t>
            </a:r>
          </a:p>
          <a:p>
            <a:pPr>
              <a:spcAft>
                <a:spcPts val="800"/>
              </a:spcAft>
              <a:defRPr sz="1300">
                <a:solidFill>
                  <a:srgbClr val="233045"/>
                </a:solidFill>
              </a:defRPr>
            </a:pPr>
            <a:r>
              <a:t>Practical impact: fewer weak questions pass forward, so downstream answer retries are lower.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7. Question Generation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Pictorial flow: generate, filter, validate, and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0972800" cy="338328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13_question_algorith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972800" cy="3383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697480"/>
            <a:ext cx="173736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1) Prompt +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697480"/>
            <a:ext cx="164592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2) Parse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2148840"/>
            <a:ext cx="196596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3) Dedup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697480"/>
            <a:ext cx="196596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4) Quality Gates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148840"/>
            <a:ext cx="201168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5) Accept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201168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6) Regenerate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2423160"/>
            <a:ext cx="141732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2D55"/>
                </a:solidFill>
              </a:defRPr>
            </a:pPr>
            <a:r>
              <a:t>7) Final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Flow interpretation: prompt build -&gt; LLM generation -&gt; parse -&gt; dedup -&gt; quality gates -&gt; final validated set.</a:t>
            </a:r>
          </a:p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Upper path enforces grounding/comprehensiveness acceptance; lower loop represents targeted regeneration cycles.</a:t>
            </a:r>
          </a:p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Tradeoff: extra loop cost improves final question diversity and reduces downstream answer failures.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8. Question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Grounding + comprehensiveness hard 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3017520"/>
          </a:xfrm>
          <a:prstGeom prst="roundRect">
            <a:avLst/>
          </a:prstGeom>
          <a:solidFill>
            <a:srgbClr val="E9F2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Gate A: Grounding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Purpose: reject out-of-doc questions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Default: min_conf=0.7, max_retry=2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Tradeoff: precision vs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383280" cy="301752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Gate B: Comprehensiveness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Purpose: reject trivial lookups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Default: min_score=0.6, max_attempts=2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Tradeoff: depth vs extra LLM calls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737360"/>
            <a:ext cx="3383280" cy="301752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Method: Semantic-first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Purpose: keep checks fast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Default for question validation path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Risk: misses some nuanced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Net effect: questions are both answerable and meaningful before answer generation starts.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9. Structured Answer Prompt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Pictorial prompt constraints and output branches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097280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14_answer_promp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728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2011680" cy="347472"/>
          </a:xfrm>
          <a:prstGeom prst="roundRect">
            <a:avLst/>
          </a:prstGeom>
          <a:solidFill>
            <a:srgbClr val="E1F3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Document +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965960"/>
            <a:ext cx="2011680" cy="347472"/>
          </a:xfrm>
          <a:prstGeom prst="roundRect">
            <a:avLst/>
          </a:prstGeom>
          <a:solidFill>
            <a:srgbClr val="E1F3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Prompt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965960"/>
            <a:ext cx="1783080" cy="347472"/>
          </a:xfrm>
          <a:prstGeom prst="roundRect">
            <a:avLst/>
          </a:prstGeom>
          <a:solidFill>
            <a:srgbClr val="E1F3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Answer 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214884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5630"/>
                </a:solidFill>
              </a:defRPr>
            </a:pPr>
            <a:r>
              <a:t>Counting-First 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423160"/>
            <a:ext cx="2148840" cy="347472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63412"/>
                </a:solidFill>
              </a:defRPr>
            </a:pPr>
            <a:r>
              <a:t>Insufficient-Info Branch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2011680"/>
            <a:ext cx="1874519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Answer +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2788920"/>
            <a:ext cx="2240280" cy="347472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63412"/>
                </a:solidFill>
              </a:defRPr>
            </a:pPr>
            <a:r>
              <a:t>Insufficient Info Signal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2423160"/>
            <a:ext cx="1874519" cy="347472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63412"/>
                </a:solidFill>
              </a:defRPr>
            </a:pPr>
            <a:r>
              <a:t>Fallback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The visual maps prompt constraints to output behavior: answer + supporting evidence or explicit insufficiency path.</a:t>
            </a:r>
          </a:p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Counting-first branch enforces itemization before totals, reducing aggregation mistakes.</a:t>
            </a:r>
          </a:p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Branch-based prompt design increases factual consistency at temperature 0.3 while preserving auditability.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6172200"/>
            <a:ext cx="10972800" cy="411480"/>
          </a:xfrm>
          <a:prstGeom prst="roundRect">
            <a:avLst/>
          </a:prstGeom>
          <a:solidFill>
            <a:srgbClr val="F0F6FF"/>
          </a:solidFill>
          <a:ln>
            <a:solidFill>
              <a:srgbClr val="AAB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386A"/>
                </a:solidFill>
              </a:defRPr>
            </a:pPr>
            <a:r>
              <a:t>Key takeaway: Prompt structure enforces both factuality and explainability.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10. Answer Validation and Retry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Grounding-first acceptance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0" y="1280160"/>
            <a:ext cx="5943600" cy="50292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6_answe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80160"/>
            <a:ext cx="5943600" cy="502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72200" y="1600200"/>
            <a:ext cx="192024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Generated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2971800"/>
            <a:ext cx="155448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Grounding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783080"/>
            <a:ext cx="201168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5630"/>
                </a:solidFill>
              </a:defRPr>
            </a:pPr>
            <a:r>
              <a:t>Supported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3337560"/>
            <a:ext cx="2011680" cy="347472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63412"/>
                </a:solidFill>
              </a:defRPr>
            </a:pPr>
            <a:r>
              <a:t>Ungrounded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800600"/>
            <a:ext cx="1965960" cy="347472"/>
          </a:xfrm>
          <a:prstGeom prst="roundRect">
            <a:avLst/>
          </a:prstGeom>
          <a:solidFill>
            <a:srgbClr val="FFF7DC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490F"/>
                </a:solidFill>
              </a:defRPr>
            </a:pPr>
            <a:r>
              <a:t>Accept / Retry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Initial answer is checked by hallucination checker.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If not grounded at required confidence -&gt; regenerate up to 3 times.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Best available answer is retained for transparency, not silently dropped.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11. Coverage Validator + Targeted Rewrite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New quality layer for question-answer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46304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6_answe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63640" y="1783080"/>
            <a:ext cx="178308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Initial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743200"/>
            <a:ext cx="173736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2855"/>
                </a:solidFill>
              </a:defRPr>
            </a:pPr>
            <a:r>
              <a:t>Coverage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66960" y="1783080"/>
            <a:ext cx="160020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5630"/>
                </a:solidFill>
              </a:defRPr>
            </a:pPr>
            <a:r>
              <a:t>Covered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3246120"/>
            <a:ext cx="1600200" cy="347472"/>
          </a:xfrm>
          <a:prstGeom prst="roundRect">
            <a:avLst/>
          </a:prstGeom>
          <a:solidFill>
            <a:srgbClr val="FFEEE1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763412"/>
                </a:solidFill>
              </a:defRPr>
            </a:pPr>
            <a:r>
              <a:t>Low 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617720"/>
            <a:ext cx="2011680" cy="347472"/>
          </a:xfrm>
          <a:prstGeom prst="roundRect">
            <a:avLst/>
          </a:prstGeom>
          <a:solidFill>
            <a:srgbClr val="FFF7DC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490F"/>
                </a:solidFill>
              </a:defRPr>
            </a:pPr>
            <a:r>
              <a:t>Targeted Rewrite (x1)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04120" y="4617720"/>
            <a:ext cx="150876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2855"/>
                </a:solidFill>
              </a:defRPr>
            </a:pPr>
            <a:r>
              <a:t>Grounding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Purpose: detect grounded-but-incomplete answers that miss parts of the question.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If coverage is low, run one targeted rewrite using missing-point feedback.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Safety: rewritten answer is accepted only if grounding/confidence still passes.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Outcome: improves completeness without increasing hallucination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12. Hallucination Checking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Method-level strengths and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3291840"/>
          </a:xfrm>
          <a:prstGeom prst="roundRect">
            <a:avLst/>
          </a:prstGeom>
          <a:solidFill>
            <a:srgbClr val="E9F2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Semantic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Strength: fast, CPU, no GPU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Weakness: limited for counting/inference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Use: first-pass filter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383280" cy="329184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LLM Judge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Strength: handles reasoning/aggregation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Weakness: slower and GPU-expensive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Use: high-ambiguity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737360"/>
            <a:ext cx="3383280" cy="329184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Hybrid (Default)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Strength: speed-accuracy balance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Weakness: extra routing logic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Use: production default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57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Hybrid captures most cases cheaply, escalates only uncertain edges.</a:t>
            </a:r>
          </a:p>
          <a:p>
            <a:pPr>
              <a:spcAft>
                <a:spcPts val="800"/>
              </a:spcAft>
              <a:defRPr sz="1400">
                <a:solidFill>
                  <a:srgbClr val="233045"/>
                </a:solidFill>
              </a:defRPr>
            </a:pPr>
            <a:r>
              <a:t>Independent judge model gives stronger quality signal than self-judging.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13. Hybrid Grading Decision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Adaptive routing logic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58521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7_hybrid_gr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85216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1645920"/>
            <a:ext cx="196596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5630"/>
                </a:solidFill>
              </a:defRPr>
            </a:pPr>
            <a:r>
              <a:t>A) Fast Semantic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23160"/>
            <a:ext cx="1965960" cy="347472"/>
          </a:xfrm>
          <a:prstGeom prst="roundRect">
            <a:avLst/>
          </a:prstGeom>
          <a:solidFill>
            <a:srgbClr val="F0EC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A2478"/>
                </a:solidFill>
              </a:defRPr>
            </a:pPr>
            <a:r>
              <a:t>B) Judge Fallback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834640"/>
            <a:ext cx="205740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2855"/>
                </a:solidFill>
              </a:defRPr>
            </a:pPr>
            <a:r>
              <a:t>C) Merge + Final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A) Fast Semantic Path: high-confidence answers are accepted quickly.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B) Judge Fallback Path: low-confidence cases invoke the independent LLM judge.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C) Merge + Final Verdict: confidence combines evidence from both checks.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Tradeoff: slight routing complexity yields major efficiency gains.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14. Output Schema Made Simple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How to read one result file in under 30 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371600"/>
            <a:ext cx="429768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8_output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9768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645920"/>
            <a:ext cx="3474720" cy="1920240"/>
          </a:xfrm>
          <a:prstGeom prst="roundRect">
            <a:avLst/>
          </a:prstGeom>
          <a:solidFill>
            <a:srgbClr val="E9F2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Block 1: Document context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document.id, title, source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Input identity for traceability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474720" cy="192024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Block 2: QA details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qa_pairs: question + answer + grading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Per-pair confidence and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474720" cy="192024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Block 3: Generation metadata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question_generation / answer_generation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Models, provider, timestamps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840480"/>
            <a:ext cx="3474720" cy="1920240"/>
          </a:xfrm>
          <a:prstGeom prst="roundRect">
            <a:avLst/>
          </a:prstGeom>
          <a:solidFill>
            <a:srgbClr val="FFF0E5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Block 4: Summary + enrichment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grading_summary + run_metrics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semantic_enrichment 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9319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33045"/>
                </a:solidFill>
              </a:defRPr>
            </a:pPr>
            <a:r>
              <a:t>Interpretation example: if grade is C with low confidence, inspect qa_pairs.issues first, then trace back to question_generation/comprehensiveness metadata.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172200"/>
            <a:ext cx="10972800" cy="411480"/>
          </a:xfrm>
          <a:prstGeom prst="roundRect">
            <a:avLst/>
          </a:prstGeom>
          <a:solidFill>
            <a:srgbClr val="F0F6FF"/>
          </a:solidFill>
          <a:ln>
            <a:solidFill>
              <a:srgbClr val="AAB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386A"/>
                </a:solidFill>
              </a:defRPr>
            </a:pPr>
            <a:r>
              <a:t>Key takeaway: Read outputs as four blocks: context, QA details, generation metadata, final summary.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15. Configuration Knobs That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Operational tuning from config/config.&lt;profile&gt;.yaml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09_config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66928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5440680"/>
            <a:ext cx="178308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5630"/>
                </a:solidFill>
              </a:defRPr>
            </a:pPr>
            <a:r>
              <a:t>Quality Knob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5440680"/>
            <a:ext cx="1783080" cy="347472"/>
          </a:xfrm>
          <a:prstGeom prst="roundRect">
            <a:avLst/>
          </a:prstGeom>
          <a:solidFill>
            <a:srgbClr val="FFF7DC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0490F"/>
                </a:solidFill>
              </a:defRPr>
            </a:pPr>
            <a:r>
              <a:t>Latency Knob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78440" y="5440680"/>
            <a:ext cx="1234440" cy="347472"/>
          </a:xfrm>
          <a:prstGeom prst="roundRect">
            <a:avLst/>
          </a:prstGeom>
          <a:solidFill>
            <a:srgbClr val="F0EC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A2478"/>
                </a:solidFill>
              </a:defRPr>
            </a:pPr>
            <a:r>
              <a:t>Cost Knob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212080" cy="1280160"/>
          </a:xfrm>
          <a:prstGeom prst="roundRect">
            <a:avLst/>
          </a:prstGeom>
          <a:solidFill>
            <a:srgbClr val="E9F2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Question generation knobs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complexity, num_questions, dedup threshold,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grounding + comprehensiveness thresholds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5212080" cy="1280160"/>
          </a:xfrm>
          <a:prstGeom prst="roundRect">
            <a:avLst/>
          </a:prstGeom>
          <a:solidFill>
            <a:srgbClr val="E9FCF4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Answer generation knobs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temperature, retry limits,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coverage validation 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80560"/>
            <a:ext cx="5212080" cy="1280160"/>
          </a:xfrm>
          <a:prstGeom prst="roundRect">
            <a:avLst/>
          </a:prstGeom>
          <a:solidFill>
            <a:srgbClr val="F0EC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Grading knobs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hallucination.method and judge model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semantic | keyword | llm | hybrid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3045"/>
                </a:solidFill>
              </a:defRPr>
            </a:pPr>
            <a:r>
              <a:t>Image mapping: Quality Knob -&gt; complexity/coverage strictness.</a:t>
            </a:r>
          </a:p>
          <a:p>
            <a:pPr>
              <a:spcAft>
                <a:spcPts val="800"/>
              </a:spcAft>
              <a:defRPr sz="1100">
                <a:solidFill>
                  <a:srgbClr val="233045"/>
                </a:solidFill>
              </a:defRPr>
            </a:pPr>
            <a:r>
              <a:t>Latency Knob -&gt; retry/fallback frequency and path depth.</a:t>
            </a:r>
          </a:p>
          <a:p>
            <a:pPr>
              <a:spcAft>
                <a:spcPts val="800"/>
              </a:spcAft>
              <a:defRPr sz="1100">
                <a:solidFill>
                  <a:srgbClr val="233045"/>
                </a:solidFill>
              </a:defRPr>
            </a:pPr>
            <a:r>
              <a:t>Cost Knob -&gt; judge-model usage and compute footprint.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16. Whole Workflow 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From input document to graded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011680" cy="1463040"/>
          </a:xfrm>
          <a:prstGeom prst="roundRect">
            <a:avLst/>
          </a:prstGeom>
          <a:solidFill>
            <a:srgbClr val="E8F1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Step 1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Load supported input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Normalize + enrich metadata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828800"/>
            <a:ext cx="2011680" cy="1463040"/>
          </a:xfrm>
          <a:prstGeom prst="roundRect">
            <a:avLst/>
          </a:prstGeom>
          <a:solidFill>
            <a:srgbClr val="E2F5FF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Step 2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Generate questions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Dedup + validate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828800"/>
            <a:ext cx="2011680" cy="1463040"/>
          </a:xfrm>
          <a:prstGeom prst="roundRect">
            <a:avLst/>
          </a:prstGeom>
          <a:solidFill>
            <a:srgbClr val="E8FCF2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Step 3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Generate answers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Retry + coverage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2011680" cy="1463040"/>
          </a:xfrm>
          <a:prstGeom prst="roundRect">
            <a:avLst/>
          </a:prstGeom>
          <a:solidFill>
            <a:srgbClr val="EDE9FE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Step 4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Hybrid grading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Confidence +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828800"/>
            <a:ext cx="1828800" cy="1463040"/>
          </a:xfrm>
          <a:prstGeom prst="roundRect">
            <a:avLst/>
          </a:prstGeom>
          <a:solidFill>
            <a:srgbClr val="FFEEE1"/>
          </a:solidFill>
          <a:ln>
            <a:solidFill>
              <a:srgbClr val="A0A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92D55"/>
                </a:solidFill>
              </a:defRPr>
            </a:pPr>
            <a:r>
              <a:t>Step 5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Save outputs</a:t>
            </a:r>
          </a:p>
          <a:p>
            <a:pPr>
              <a:spcAft>
                <a:spcPts val="200"/>
              </a:spcAft>
              <a:defRPr sz="1100">
                <a:solidFill>
                  <a:srgbClr val="2D3A50"/>
                </a:solidFill>
              </a:defRPr>
            </a:pPr>
            <a:r>
              <a:t>Emit summary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377440"/>
            <a:ext cx="182879" cy="36576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4983480" y="2377440"/>
            <a:ext cx="182880" cy="36576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7269480" y="2377440"/>
            <a:ext cx="182880" cy="36576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9555480" y="2377440"/>
            <a:ext cx="182880" cy="365760"/>
          </a:xfrm>
          <a:prstGeom prst="chevron">
            <a:avLst/>
          </a:prstGeom>
          <a:solidFill>
            <a:srgbClr val="5382D4"/>
          </a:solidFill>
          <a:ln>
            <a:solidFill>
              <a:srgbClr val="5382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Decision Gate A (QG): reject ungrounded or trivial questions before answer stage.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Decision Gate B (AG): retry ungrounded answers; if still failing, generate replacement questions in later rounds (max 3), then apply one coverage rewrite pass.</a:t>
            </a:r>
          </a:p>
          <a:p>
            <a:pPr>
              <a:spcAft>
                <a:spcPts val="800"/>
              </a:spcAft>
              <a:defRPr sz="1600">
                <a:solidFill>
                  <a:srgbClr val="233045"/>
                </a:solidFill>
              </a:defRPr>
            </a:pPr>
            <a:r>
              <a:t>Decision Gate C (Grading): fallback to LLM judge only for low-confidence semantic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17. Core Tradeoff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Accuracy vs latency vs compute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10_tradeoff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45920"/>
            <a:ext cx="5303520" cy="4480560"/>
          </a:xfrm>
          <a:prstGeom prst="roundRect">
            <a:avLst/>
          </a:prstGeom>
          <a:solidFill>
            <a:srgbClr val="F5F8FF"/>
          </a:solidFill>
          <a:ln>
            <a:solidFill>
              <a:srgbClr val="AA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1A386A"/>
                </a:solidFill>
              </a:defRPr>
            </a:pPr>
            <a:r>
              <a:t>Design Choice | Upside | Downside</a:t>
            </a:r>
          </a:p>
          <a:p>
            <a:pPr>
              <a:spcAft>
                <a:spcPts val="600"/>
              </a:spcAft>
              <a:defRPr sz="1300">
                <a:solidFill>
                  <a:srgbClr val="2E384C"/>
                </a:solidFill>
              </a:defRPr>
            </a:pPr>
            <a:r>
              <a:t>High question complexity | Better stress-test of comprehension | More generation instability risk</a:t>
            </a:r>
          </a:p>
          <a:p>
            <a:pPr>
              <a:spcAft>
                <a:spcPts val="600"/>
              </a:spcAft>
              <a:defRPr sz="1300">
                <a:solidFill>
                  <a:srgbClr val="2E384C"/>
                </a:solidFill>
              </a:defRPr>
            </a:pPr>
            <a:r>
              <a:t>Low answer temperature | Factual consistency | Less linguistic flexibility</a:t>
            </a:r>
          </a:p>
          <a:p>
            <a:pPr>
              <a:spcAft>
                <a:spcPts val="600"/>
              </a:spcAft>
              <a:defRPr sz="1300">
                <a:solidFill>
                  <a:srgbClr val="2E384C"/>
                </a:solidFill>
              </a:defRPr>
            </a:pPr>
            <a:r>
              <a:t>Hybrid grading | Better speed/quality balance | More decision logic</a:t>
            </a:r>
          </a:p>
          <a:p>
            <a:pPr>
              <a:spcAft>
                <a:spcPts val="600"/>
              </a:spcAft>
              <a:defRPr sz="1300">
                <a:solidFill>
                  <a:srgbClr val="2E384C"/>
                </a:solidFill>
              </a:defRPr>
            </a:pPr>
            <a:r>
              <a:t>Coverage rewrite pass | Completeness gains | Additional LLM call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18. Reliability and Failure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How the workflow degrades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57784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12_reliability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57784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4480560"/>
            <a:ext cx="1600200" cy="347472"/>
          </a:xfrm>
          <a:prstGeom prst="roundRect">
            <a:avLst/>
          </a:prstGeom>
          <a:solidFill>
            <a:srgbClr val="E9F6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2855"/>
                </a:solidFill>
              </a:defRPr>
            </a:pPr>
            <a:r>
              <a:t>A) Input Guard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4480560"/>
            <a:ext cx="1828800" cy="347472"/>
          </a:xfrm>
          <a:prstGeom prst="roundRect">
            <a:avLst/>
          </a:prstGeom>
          <a:solidFill>
            <a:srgbClr val="FFF7DC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0490F"/>
                </a:solidFill>
              </a:defRPr>
            </a:pPr>
            <a:r>
              <a:t>B) Retry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4480560"/>
            <a:ext cx="1874519" cy="347472"/>
          </a:xfrm>
          <a:prstGeom prst="roundRect">
            <a:avLst/>
          </a:prstGeom>
          <a:solidFill>
            <a:srgbClr val="F0ECFF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A2478"/>
                </a:solidFill>
              </a:defRPr>
            </a:pPr>
            <a:r>
              <a:t>C) Fallback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148840"/>
            <a:ext cx="2011680" cy="347472"/>
          </a:xfrm>
          <a:prstGeom prst="roundRect">
            <a:avLst/>
          </a:prstGeom>
          <a:solidFill>
            <a:srgbClr val="E1FFEE"/>
          </a:solidFill>
          <a:ln>
            <a:solidFill>
              <a:srgbClr val="8C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5630"/>
                </a:solidFill>
              </a:defRPr>
            </a:pPr>
            <a:r>
              <a:t>D) Audit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A) Input Guard: invalid or empty questions are explicitly marked, never silently ignored.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B) Retry Control: insufficient-information path prevents forced hallucinated answers.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C) Fallback Path: semantic-to-judge escalation handles hard reasoning cases.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D) Audit Trail: all issues are stored with reasons for operator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172200"/>
            <a:ext cx="10972800" cy="411480"/>
          </a:xfrm>
          <a:prstGeom prst="roundRect">
            <a:avLst/>
          </a:prstGeom>
          <a:solidFill>
            <a:srgbClr val="F0F6FF"/>
          </a:solidFill>
          <a:ln>
            <a:solidFill>
              <a:srgbClr val="AAB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386A"/>
                </a:solidFill>
              </a:defRPr>
            </a:pPr>
            <a:r>
              <a:t>Key takeaway: Map each reliability bullet to its A/B/C/D callout for quick explanation.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19. Deployment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Offline/air-gapped 6-file split-model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76072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visual_11_offline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7607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6-file split-model transfer: vllm rootfs + qagredo image + llama model + qwen model + embed model + bundle.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Model split archives: models_llama.tar.gz (Llama HF tree, typical vLLM-judge) and models_qwen.tar.gz (Qwen HF tree, typical vLLM generator, e.g. Qwen3.5-9B).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setup_offline.sh prepares links, loads containers, and validates runtime.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run.sh executes pipeline with reproducible directory structure and outputs.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Partial runs: bash run.sh -- --resume skips docs with existing *_analysis.json.</a:t>
            </a:r>
          </a:p>
          <a:p>
            <a:pPr>
              <a:spcAft>
                <a:spcPts val="800"/>
              </a:spcAft>
              <a:defRPr sz="1500">
                <a:solidFill>
                  <a:srgbClr val="233045"/>
                </a:solidFill>
              </a:defRPr>
            </a:pPr>
            <a:r>
              <a:t>Design supports regulated environments with no external network dependency and incremental bundle updates.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F5F"/>
                </a:solidFill>
              </a:defRPr>
            </a:pPr>
            <a:r>
              <a:t>20. Senior-Level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2526C"/>
                </a:solidFill>
              </a:defRPr>
            </a:pPr>
            <a:r>
              <a:t>Action plan for next optimization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881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33045"/>
                </a:solidFill>
              </a:defRPr>
            </a:pPr>
            <a:r>
              <a:t>1) Add per-answer metadata: coverage_score, rewrite_applied, fallback_path.</a:t>
            </a:r>
          </a:p>
          <a:p>
            <a:pPr>
              <a:spcAft>
                <a:spcPts val="800"/>
              </a:spcAft>
              <a:defRPr sz="1800">
                <a:solidFill>
                  <a:srgbClr val="233045"/>
                </a:solidFill>
              </a:defRPr>
            </a:pPr>
            <a:r>
              <a:t>2) Build calibration dashboard: confidence distribution vs manual audit outcomes.</a:t>
            </a:r>
          </a:p>
          <a:p>
            <a:pPr>
              <a:spcAft>
                <a:spcPts val="800"/>
              </a:spcAft>
              <a:defRPr sz="1800">
                <a:solidFill>
                  <a:srgbClr val="233045"/>
                </a:solidFill>
              </a:defRPr>
            </a:pPr>
            <a:r>
              <a:t>3) Introduce workload profiles (fast/standard/strict) via config presets.</a:t>
            </a:r>
          </a:p>
          <a:p>
            <a:pPr>
              <a:spcAft>
                <a:spcPts val="800"/>
              </a:spcAft>
              <a:defRPr sz="1800">
                <a:solidFill>
                  <a:srgbClr val="233045"/>
                </a:solidFill>
              </a:defRPr>
            </a:pPr>
            <a:r>
              <a:t>4) Expand reliability testing with synthetic hard cases for counting and counterfactuals.</a:t>
            </a:r>
          </a:p>
          <a:p>
            <a:pPr>
              <a:spcAft>
                <a:spcPts val="800"/>
              </a:spcAft>
              <a:defRPr sz="1800">
                <a:solidFill>
                  <a:srgbClr val="233045"/>
                </a:solidFill>
              </a:defRPr>
            </a:pPr>
            <a:r>
              <a:t>5) Keep current architecture: strongest balance of explainability and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880"/>
                </a:solidFill>
              </a:defRPr>
            </a:pPr>
            <a:r>
              <a:t>Visual credits: custom-generated professional illustrations for technical presentation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