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1.xml"/><Relationship Id="rId36" Type="http://schemas.openxmlformats.org/officeDocument/2006/relationships/slide" Target="slides/slide21.xml"/><Relationship Id="rId3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visual_01_titl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74320"/>
            <a:ext cx="11216359" cy="6309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7667" y="274320"/>
            <a:ext cx="11216359" cy="6309360"/>
          </a:xfrm>
          <a:prstGeom prst="rect">
            <a:avLst/>
          </a:prstGeom>
          <a:solidFill>
            <a:srgbClr val="081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4166" y="442569"/>
            <a:ext cx="10543361" cy="521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4400" b="1">
                <a:solidFill>
                  <a:srgbClr val="F0F6FF"/>
                </a:solidFill>
              </a:defRPr>
            </a:pPr>
            <a:r>
              <a:rPr sz="3000" b="1">
                <a:solidFill>
                  <a:srgbClr val="111827"/>
                </a:solidFill>
                <a:latin typeface="Arial"/>
              </a:rPr>
              <a:t>QAGRedo Workflow Deep Technical Review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2400">
                <a:solidFill>
                  <a:srgbClr val="C9E0FF"/>
                </a:solidFill>
              </a:defRPr>
            </a:pPr>
            <a:r>
              <a:rPr sz="3000" b="1">
                <a:solidFill>
                  <a:srgbClr val="111827"/>
                </a:solidFill>
                <a:latin typeface="Arial"/>
              </a:rPr>
              <a:t>Minimal Workflow, Algorithms, and Engineering Tradeoffs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72033"/>
            <a:ext cx="11581143" cy="572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122F5F"/>
                </a:solidFill>
              </a:defRPr>
            </a:pPr>
            <a:r>
              <a:rPr sz="3000" b="1">
                <a:solidFill>
                  <a:srgbClr val="111827"/>
                </a:solidFill>
                <a:latin typeface="Arial"/>
              </a:rPr>
              <a:t>2. Why This Workflow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9130" y="1303680"/>
            <a:ext cx="11181029" cy="462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42526C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Business and technical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1535" y="1858111"/>
            <a:ext cx="6006337" cy="443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9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Goal: generate complex Q&amp;A grounded strictly in source documents.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9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Problem: raw LLM output is fast but can be shallow, repetitive, or hallucinatory.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9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Design response: multi-stage validation with adaptive fallback checks.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9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Outcome target: high factual confidence with auditable evidence trail.</a:t>
            </a:r>
          </a:p>
        </p:txBody>
      </p:sp>
      <p:pic>
        <p:nvPicPr>
          <p:cNvPr id="5" name="Picture 4" descr="slide_visual_02_problem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063" y="1858111"/>
            <a:ext cx="5544311" cy="452785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11670" y="5785332"/>
            <a:ext cx="1108862" cy="332658"/>
          </a:xfrm>
          <a:prstGeom prst="roundRect">
            <a:avLst/>
          </a:prstGeom>
          <a:solidFill>
            <a:srgbClr val="E9F6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1028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Need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12937" y="5785332"/>
            <a:ext cx="1108862" cy="332658"/>
          </a:xfrm>
          <a:prstGeom prst="roundRect">
            <a:avLst/>
          </a:prstGeom>
          <a:solidFill>
            <a:srgbClr val="FFEEE1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763412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4206" y="5785332"/>
            <a:ext cx="1339875" cy="332658"/>
          </a:xfrm>
          <a:prstGeom prst="roundRect">
            <a:avLst/>
          </a:prstGeom>
          <a:solidFill>
            <a:srgbClr val="E9FCF4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0E563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92689" y="5785332"/>
            <a:ext cx="1108862" cy="332658"/>
          </a:xfrm>
          <a:prstGeom prst="roundRect">
            <a:avLst/>
          </a:prstGeom>
          <a:solidFill>
            <a:srgbClr val="F0EC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3A2478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Target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7618" y="274320"/>
            <a:ext cx="11296458" cy="558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122F5F"/>
                </a:solidFill>
              </a:defRPr>
            </a:pPr>
            <a:r>
              <a:rPr sz="3000" b="1">
                <a:solidFill>
                  <a:srgbClr val="111827"/>
                </a:solidFill>
                <a:latin typeface="Arial"/>
              </a:rPr>
              <a:t>3. Minimal 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7885" y="1085523"/>
            <a:ext cx="10906179" cy="450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42526C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Single-document processing path</a:t>
            </a:r>
          </a:p>
        </p:txBody>
      </p:sp>
      <p:pic>
        <p:nvPicPr>
          <p:cNvPr id="4" name="Picture 3" descr="slide_visual_03_pip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85" y="1265790"/>
            <a:ext cx="10906179" cy="288427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070025" y="1851660"/>
            <a:ext cx="1892808" cy="342508"/>
          </a:xfrm>
          <a:prstGeom prst="roundRect">
            <a:avLst/>
          </a:prstGeom>
          <a:solidFill>
            <a:srgbClr val="E9F2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1028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Stage 1: Question Gen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8434" y="1851660"/>
            <a:ext cx="1802674" cy="342508"/>
          </a:xfrm>
          <a:prstGeom prst="roundRect">
            <a:avLst/>
          </a:prstGeom>
          <a:solidFill>
            <a:srgbClr val="E9FCF4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0E563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Stage 2: Answer Gen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76710" y="1851660"/>
            <a:ext cx="2028008" cy="342508"/>
          </a:xfrm>
          <a:prstGeom prst="roundRect">
            <a:avLst/>
          </a:prstGeom>
          <a:solidFill>
            <a:srgbClr val="F0EC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3A2478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Stage 3: Hybrid Grading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0321" y="1851660"/>
            <a:ext cx="1712540" cy="342508"/>
          </a:xfrm>
          <a:prstGeom prst="roundRect">
            <a:avLst/>
          </a:prstGeom>
          <a:solidFill>
            <a:srgbClr val="FFEEE1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763412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Stage 4: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86" y="4195136"/>
            <a:ext cx="10816045" cy="31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rgbClr val="58667E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Linked mapping: Stage cards below correspond to pipeline icons from left to right.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153" y="4510604"/>
            <a:ext cx="2613877" cy="1442139"/>
          </a:xfrm>
          <a:prstGeom prst="roundRect">
            <a:avLst/>
          </a:prstGeom>
          <a:solidFill>
            <a:srgbClr val="E8F1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400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Stage 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Question generation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Grounding + comprehensiveness gates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2298" y="4510604"/>
            <a:ext cx="2613877" cy="1442139"/>
          </a:xfrm>
          <a:prstGeom prst="roundRect">
            <a:avLst/>
          </a:prstGeom>
          <a:solidFill>
            <a:srgbClr val="E9FCF4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400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Stage 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Structured answer generation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Retries + coverage rewrite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96443" y="4510604"/>
            <a:ext cx="2613877" cy="1442139"/>
          </a:xfrm>
          <a:prstGeom prst="roundRect">
            <a:avLst/>
          </a:prstGeom>
          <a:solidFill>
            <a:srgbClr val="F0EC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400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Stage 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Hybrid hallucination grading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Semantic first, judge fallback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90588" y="4510604"/>
            <a:ext cx="2163209" cy="1442139"/>
          </a:xfrm>
          <a:prstGeom prst="roundRect">
            <a:avLst/>
          </a:prstGeom>
          <a:solidFill>
            <a:srgbClr val="FFEEE1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400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Stage 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Timestamped output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Confidence, grade, reasons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8019" y="6178078"/>
            <a:ext cx="10816045" cy="405601"/>
          </a:xfrm>
          <a:prstGeom prst="roundRect">
            <a:avLst/>
          </a:prstGeom>
          <a:solidFill>
            <a:srgbClr val="F0F6FF"/>
          </a:solidFill>
          <a:ln>
            <a:solidFill>
              <a:srgbClr val="AA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A386A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Key takeaway: 4 linked stages convert raw model output into auditable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7618" y="274320"/>
            <a:ext cx="11296458" cy="558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1F3864"/>
                </a:solidFill>
              </a:defRPr>
            </a:pPr>
            <a:r>
              <a:t>4. Runtime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7885" y="1085523"/>
            <a:ext cx="10906179" cy="450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5C6573"/>
                </a:solidFill>
              </a:defRPr>
            </a:pPr>
            <a:r>
              <a:t>Three-service architecture with explicit runtime responsibilities</a:t>
            </a:r>
          </a:p>
        </p:txBody>
      </p:sp>
      <p:pic>
        <p:nvPicPr>
          <p:cNvPr id="4" name="Picture 3" descr="slide_visual_04_architecture_contai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40080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43353" y="5096473"/>
            <a:ext cx="1937874" cy="901337"/>
          </a:xfrm>
          <a:prstGeom prst="roundRect">
            <a:avLst/>
          </a:prstGeom>
          <a:solidFill>
            <a:srgbClr val="F5F7FC"/>
          </a:solidFill>
          <a:ln w="15240">
            <a:solidFill>
              <a:srgbClr val="CD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050">
                <a:solidFill>
                  <a:srgbClr val="1E222A"/>
                </a:solidFill>
              </a:defRPr>
            </a:pPr>
            <a:r>
              <a:t>qagredo-vllm</a:t>
            </a:r>
          </a:p>
          <a:p>
            <a:pPr algn="ctr">
              <a:defRPr sz="950" b="0">
                <a:solidFill>
                  <a:srgbClr val="1E222A"/>
                </a:solidFill>
              </a:defRPr>
            </a:pPr>
            <a:r>
              <a:t>Llama Q/A generator</a:t>
            </a:r>
          </a:p>
          <a:p>
            <a:pPr algn="ctr">
              <a:defRPr sz="950" b="0">
                <a:solidFill>
                  <a:srgbClr val="1E222A"/>
                </a:solidFill>
              </a:defRPr>
            </a:pPr>
            <a:r>
              <a:t>GPU 0 | :8100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6161" y="5096473"/>
            <a:ext cx="1982941" cy="901337"/>
          </a:xfrm>
          <a:prstGeom prst="roundRect">
            <a:avLst/>
          </a:prstGeom>
          <a:solidFill>
            <a:srgbClr val="F5F7FC"/>
          </a:solidFill>
          <a:ln w="15240">
            <a:solidFill>
              <a:srgbClr val="CD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050">
                <a:solidFill>
                  <a:srgbClr val="1E222A"/>
                </a:solidFill>
              </a:defRPr>
            </a:pPr>
            <a:r>
              <a:t>qagredo-runner</a:t>
            </a:r>
          </a:p>
          <a:p>
            <a:pPr algn="ctr">
              <a:defRPr sz="950" b="0">
                <a:solidFill>
                  <a:srgbClr val="1E222A"/>
                </a:solidFill>
              </a:defRPr>
            </a:pPr>
            <a:r>
              <a:t>Orchestrator + MiniLM</a:t>
            </a:r>
          </a:p>
          <a:p>
            <a:pPr algn="ctr">
              <a:defRPr sz="950" b="0">
                <a:solidFill>
                  <a:srgbClr val="1E222A"/>
                </a:solidFill>
              </a:defRPr>
            </a:pPr>
            <a:r>
              <a:t>CPU | internal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19103" y="5096473"/>
            <a:ext cx="2118142" cy="901337"/>
          </a:xfrm>
          <a:prstGeom prst="roundRect">
            <a:avLst/>
          </a:prstGeom>
          <a:solidFill>
            <a:srgbClr val="F5F7FC"/>
          </a:solidFill>
          <a:ln w="15240">
            <a:solidFill>
              <a:srgbClr val="CD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050">
                <a:solidFill>
                  <a:srgbClr val="1E222A"/>
                </a:solidFill>
              </a:defRPr>
            </a:pPr>
            <a:r>
              <a:t>qagredo-vllm-judge</a:t>
            </a:r>
          </a:p>
          <a:p>
            <a:pPr algn="ctr">
              <a:defRPr sz="950" b="0">
                <a:solidFill>
                  <a:srgbClr val="1E222A"/>
                </a:solidFill>
              </a:defRPr>
            </a:pPr>
            <a:r>
              <a:t>Qwen2.5 judge model</a:t>
            </a:r>
          </a:p>
          <a:p>
            <a:pPr algn="ctr">
              <a:defRPr sz="950" b="0">
                <a:solidFill>
                  <a:srgbClr val="1E222A"/>
                </a:solidFill>
              </a:defRPr>
            </a:pPr>
            <a:r>
              <a:t>GPU 1 | :8101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32981" y="1671392"/>
            <a:ext cx="4010950" cy="1126671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CD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500">
                <a:solidFill>
                  <a:srgbClr val="1E222A"/>
                </a:solidFill>
              </a:defRPr>
            </a:pPr>
            <a:r>
              <a:t>Generator service</a:t>
            </a:r>
          </a:p>
          <a:p>
            <a:pPr algn="l">
              <a:defRPr sz="1200">
                <a:solidFill>
                  <a:srgbClr val="1E222A"/>
                </a:solidFill>
              </a:defRPr>
            </a:pPr>
            <a:r>
              <a:t>qagredo-vllm | Llama-3.1-8B | GPU 0 | :8100</a:t>
            </a:r>
          </a:p>
          <a:p>
            <a:pPr algn="l">
              <a:defRPr sz="1200">
                <a:solidFill>
                  <a:srgbClr val="1E222A"/>
                </a:solidFill>
              </a:defRPr>
            </a:pPr>
            <a:r>
              <a:t>Produces candidate questions and answers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32981" y="2978331"/>
            <a:ext cx="4010950" cy="1126671"/>
          </a:xfrm>
          <a:prstGeom prst="roundRect">
            <a:avLst/>
          </a:prstGeom>
          <a:solidFill>
            <a:srgbClr val="F4F0FF"/>
          </a:solidFill>
          <a:ln w="15875">
            <a:solidFill>
              <a:srgbClr val="CD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500">
                <a:solidFill>
                  <a:srgbClr val="1E222A"/>
                </a:solidFill>
              </a:defRPr>
            </a:pPr>
            <a:r>
              <a:t>Judge service</a:t>
            </a:r>
          </a:p>
          <a:p>
            <a:pPr algn="l">
              <a:defRPr sz="1200">
                <a:solidFill>
                  <a:srgbClr val="1E222A"/>
                </a:solidFill>
              </a:defRPr>
            </a:pPr>
            <a:r>
              <a:t>qagredo-vllm-judge | Qwen2.5-7B | GPU 1 | :8101</a:t>
            </a:r>
          </a:p>
          <a:p>
            <a:pPr algn="l">
              <a:defRPr sz="1200">
                <a:solidFill>
                  <a:srgbClr val="1E222A"/>
                </a:solidFill>
              </a:defRPr>
            </a:pPr>
            <a:r>
              <a:t>Performs independent grounding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32981" y="4285270"/>
            <a:ext cx="4010950" cy="1126671"/>
          </a:xfrm>
          <a:prstGeom prst="roundRect">
            <a:avLst/>
          </a:prstGeom>
          <a:solidFill>
            <a:srgbClr val="EEF9F2"/>
          </a:solidFill>
          <a:ln w="15875">
            <a:solidFill>
              <a:srgbClr val="CD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500">
                <a:solidFill>
                  <a:srgbClr val="1E222A"/>
                </a:solidFill>
              </a:defRPr>
            </a:pPr>
            <a:r>
              <a:t>Runner service</a:t>
            </a:r>
          </a:p>
          <a:p>
            <a:pPr algn="l">
              <a:defRPr sz="1200">
                <a:solidFill>
                  <a:srgbClr val="1E222A"/>
                </a:solidFill>
              </a:defRPr>
            </a:pPr>
            <a:r>
              <a:t>qagredo-runner | CPU | internal network</a:t>
            </a:r>
          </a:p>
          <a:p>
            <a:pPr algn="l">
              <a:defRPr sz="1200">
                <a:solidFill>
                  <a:srgbClr val="1E222A"/>
                </a:solidFill>
              </a:defRPr>
            </a:pPr>
            <a:r>
              <a:t>Orchestrates pipeline, retries, and semantic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5486400"/>
            <a:ext cx="4069080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DD4E0"/>
            </a:solidFill>
          </a:ln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F3864"/>
                </a:solidFill>
              </a:defRPr>
            </a:pPr>
            <a:r>
              <a:t>Design rationale</a:t>
            </a:r>
          </a:p>
          <a:p>
            <a:pPr>
              <a:defRPr sz="1100">
                <a:solidFill>
                  <a:srgbClr val="1E222A"/>
                </a:solidFill>
              </a:defRPr>
            </a:pPr>
            <a:r>
              <a:t>- Separate judge model removes self-evaluation bias.</a:t>
            </a:r>
          </a:p>
          <a:p>
            <a:pPr>
              <a:defRPr sz="1100">
                <a:solidFill>
                  <a:srgbClr val="1E222A"/>
                </a:solidFill>
              </a:defRPr>
            </a:pPr>
            <a:r>
              <a:t>- GPU split prevents generation-grading contention.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44492" y="274320"/>
            <a:ext cx="8502710" cy="42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1F3864"/>
                </a:solidFill>
              </a:defRPr>
            </a:pPr>
            <a:r>
              <a:t>5. Pipeline Orchestration 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0177" y="884903"/>
            <a:ext cx="8208952" cy="3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5C6573"/>
                </a:solidFill>
              </a:defRPr>
            </a:pPr>
            <a:r>
              <a:t>Execution sequence with explicit quality gates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48019" y="1427643"/>
            <a:ext cx="1526458" cy="1492536"/>
          </a:xfrm>
          <a:prstGeom prst="roundRect">
            <a:avLst/>
          </a:prstGeom>
          <a:solidFill>
            <a:srgbClr val="F4F7FC"/>
          </a:solidFill>
          <a:ln w="15240">
            <a:solidFill>
              <a:srgbClr val="CD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200">
                <a:solidFill>
                  <a:srgbClr val="1E222A"/>
                </a:solidFill>
              </a:defRPr>
            </a:pPr>
            <a:r>
              <a:t>Input</a:t>
            </a:r>
          </a:p>
          <a:p>
            <a:pPr algn="l">
              <a:defRPr sz="1050">
                <a:solidFill>
                  <a:srgbClr val="1E222A"/>
                </a:solidFill>
              </a:defRPr>
            </a:pPr>
            <a:r>
              <a:t>- Load JSON/JSONL</a:t>
            </a:r>
          </a:p>
          <a:p>
            <a:pPr algn="l">
              <a:defRPr sz="1050">
                <a:solidFill>
                  <a:srgbClr val="1E222A"/>
                </a:solidFill>
              </a:defRPr>
            </a:pPr>
            <a:r>
              <a:t>- Extract source text</a:t>
            </a:r>
          </a:p>
          <a:p>
            <a:pPr algn="l">
              <a:defRPr sz="1050">
                <a:solidFill>
                  <a:srgbClr val="1E222A"/>
                </a:solidFill>
              </a:defRPr>
            </a:pPr>
            <a:r>
              <a:t>- Prepare run metadata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4084" y="1427643"/>
            <a:ext cx="1628221" cy="1492536"/>
          </a:xfrm>
          <a:prstGeom prst="roundRect">
            <a:avLst/>
          </a:prstGeom>
          <a:solidFill>
            <a:srgbClr val="EEF5FF"/>
          </a:solidFill>
          <a:ln w="15240">
            <a:solidFill>
              <a:srgbClr val="CD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200">
                <a:solidFill>
                  <a:srgbClr val="1E222A"/>
                </a:solidFill>
              </a:defRPr>
            </a:pPr>
            <a:r>
              <a:t>Question Generation</a:t>
            </a:r>
          </a:p>
          <a:p>
            <a:pPr algn="l">
              <a:defRPr sz="1050">
                <a:solidFill>
                  <a:srgbClr val="1E222A"/>
                </a:solidFill>
              </a:defRPr>
            </a:pPr>
            <a:r>
              <a:t>- Prompt + few-shot generation</a:t>
            </a:r>
          </a:p>
          <a:p>
            <a:pPr algn="l">
              <a:defRPr sz="1050">
                <a:solidFill>
                  <a:srgbClr val="1E222A"/>
                </a:solidFill>
              </a:defRPr>
            </a:pPr>
            <a:r>
              <a:t>- MiniLM deduplication</a:t>
            </a:r>
          </a:p>
          <a:p>
            <a:pPr algn="l">
              <a:defRPr sz="1050">
                <a:solidFill>
                  <a:srgbClr val="1E222A"/>
                </a:solidFill>
              </a:defRPr>
            </a:pPr>
            <a:r>
              <a:t>- Grounding + quality checks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5834" y="1427643"/>
            <a:ext cx="1628221" cy="1492536"/>
          </a:xfrm>
          <a:prstGeom prst="roundRect">
            <a:avLst/>
          </a:prstGeom>
          <a:solidFill>
            <a:srgbClr val="EEF5FF"/>
          </a:solidFill>
          <a:ln w="15240">
            <a:solidFill>
              <a:srgbClr val="CD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200">
                <a:solidFill>
                  <a:srgbClr val="1E222A"/>
                </a:solidFill>
              </a:defRPr>
            </a:pPr>
            <a:r>
              <a:t>Answer Generation</a:t>
            </a:r>
          </a:p>
          <a:p>
            <a:pPr algn="l">
              <a:defRPr sz="1050">
                <a:solidFill>
                  <a:srgbClr val="1E222A"/>
                </a:solidFill>
              </a:defRPr>
            </a:pPr>
            <a:r>
              <a:t>- Structured answer generation</a:t>
            </a:r>
          </a:p>
          <a:p>
            <a:pPr algn="l">
              <a:defRPr sz="1050">
                <a:solidFill>
                  <a:srgbClr val="1E222A"/>
                </a:solidFill>
              </a:defRPr>
            </a:pPr>
            <a:r>
              <a:t>- Grounding-based retries</a:t>
            </a:r>
          </a:p>
          <a:p>
            <a:pPr algn="l">
              <a:defRPr sz="1050">
                <a:solidFill>
                  <a:srgbClr val="1E222A"/>
                </a:solidFill>
              </a:defRPr>
            </a:pPr>
            <a:r>
              <a:t>- Coverage rewrite (1 pass)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7583" y="1427643"/>
            <a:ext cx="1560379" cy="1492536"/>
          </a:xfrm>
          <a:prstGeom prst="roundRect">
            <a:avLst/>
          </a:prstGeom>
          <a:solidFill>
            <a:srgbClr val="F4F7FC"/>
          </a:solidFill>
          <a:ln w="15240">
            <a:solidFill>
              <a:srgbClr val="CD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200">
                <a:solidFill>
                  <a:srgbClr val="1E222A"/>
                </a:solidFill>
              </a:defRPr>
            </a:pPr>
            <a:r>
              <a:t>Hybrid Grading</a:t>
            </a:r>
          </a:p>
          <a:p>
            <a:pPr algn="l">
              <a:defRPr sz="1050">
                <a:solidFill>
                  <a:srgbClr val="1E222A"/>
                </a:solidFill>
              </a:defRPr>
            </a:pPr>
            <a:r>
              <a:t>- Semantic fast path</a:t>
            </a:r>
          </a:p>
          <a:p>
            <a:pPr algn="l">
              <a:defRPr sz="1050">
                <a:solidFill>
                  <a:srgbClr val="1E222A"/>
                </a:solidFill>
              </a:defRPr>
            </a:pPr>
            <a:r>
              <a:t>- Judge-model fallback</a:t>
            </a:r>
          </a:p>
          <a:p>
            <a:pPr algn="l">
              <a:defRPr sz="1050">
                <a:solidFill>
                  <a:srgbClr val="1E222A"/>
                </a:solidFill>
              </a:defRPr>
            </a:pPr>
            <a:r>
              <a:t>- Confidence + issue tags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37569" y="1427643"/>
            <a:ext cx="1017638" cy="1492536"/>
          </a:xfrm>
          <a:prstGeom prst="roundRect">
            <a:avLst/>
          </a:prstGeom>
          <a:solidFill>
            <a:srgbClr val="F4F7FC"/>
          </a:solidFill>
          <a:ln w="15240">
            <a:solidFill>
              <a:srgbClr val="CD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200">
                <a:solidFill>
                  <a:srgbClr val="1E222A"/>
                </a:solidFill>
              </a:defRPr>
            </a:pPr>
            <a:r>
              <a:t>Output</a:t>
            </a:r>
          </a:p>
          <a:p>
            <a:pPr algn="l">
              <a:defRPr sz="1050">
                <a:solidFill>
                  <a:srgbClr val="1E222A"/>
                </a:solidFill>
              </a:defRPr>
            </a:pPr>
            <a:r>
              <a:t>- Write analysis.json</a:t>
            </a:r>
          </a:p>
          <a:p>
            <a:pPr algn="l">
              <a:defRPr sz="1050">
                <a:solidFill>
                  <a:srgbClr val="1E222A"/>
                </a:solidFill>
              </a:defRPr>
            </a:pPr>
            <a:r>
              <a:t>- Write run_summary.json</a:t>
            </a:r>
          </a:p>
          <a:p>
            <a:pPr algn="l">
              <a:defRPr sz="1050">
                <a:solidFill>
                  <a:srgbClr val="1E222A"/>
                </a:solidFill>
              </a:defRPr>
            </a:pPr>
            <a:r>
              <a:t>- Timestamped output path</a:t>
            </a:r>
          </a:p>
        </p:txBody>
      </p:sp>
      <p:sp>
        <p:nvSpPr>
          <p:cNvPr id="9" name="Chevron 8"/>
          <p:cNvSpPr/>
          <p:nvPr/>
        </p:nvSpPr>
        <p:spPr>
          <a:xfrm>
            <a:off x="3574478" y="1936463"/>
            <a:ext cx="156037" cy="305291"/>
          </a:xfrm>
          <a:prstGeom prst="chevron">
            <a:avLst/>
          </a:prstGeom>
          <a:solidFill>
            <a:srgbClr val="8291AA"/>
          </a:solidFill>
          <a:ln>
            <a:solidFill>
              <a:srgbClr val="829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5385874" y="1936463"/>
            <a:ext cx="176389" cy="305291"/>
          </a:xfrm>
          <a:prstGeom prst="chevron">
            <a:avLst/>
          </a:prstGeom>
          <a:solidFill>
            <a:srgbClr val="8291AA"/>
          </a:solidFill>
          <a:ln>
            <a:solidFill>
              <a:srgbClr val="829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7217624" y="1936463"/>
            <a:ext cx="176389" cy="305291"/>
          </a:xfrm>
          <a:prstGeom prst="chevron">
            <a:avLst/>
          </a:prstGeom>
          <a:solidFill>
            <a:srgbClr val="8291AA"/>
          </a:solidFill>
          <a:ln>
            <a:solidFill>
              <a:srgbClr val="829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8981531" y="1936463"/>
            <a:ext cx="135684" cy="305291"/>
          </a:xfrm>
          <a:prstGeom prst="chevron">
            <a:avLst/>
          </a:prstGeom>
          <a:solidFill>
            <a:srgbClr val="8291AA"/>
          </a:solidFill>
          <a:ln>
            <a:solidFill>
              <a:srgbClr val="829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8019" y="3327236"/>
            <a:ext cx="8141109" cy="3256443"/>
          </a:xfrm>
          <a:prstGeom prst="rect">
            <a:avLst/>
          </a:prstGeom>
          <a:solidFill>
            <a:srgbClr val="F8FAFF"/>
          </a:solidFill>
          <a:ln w="12700">
            <a:solidFill>
              <a:srgbClr val="CDD4E0"/>
            </a:solidFill>
          </a:ln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F3864"/>
                </a:solidFill>
              </a:defRPr>
            </a:pPr>
            <a:r>
              <a:t>Why this orchestration works</a:t>
            </a:r>
          </a:p>
          <a:p>
            <a:pPr>
              <a:defRPr sz="1200">
                <a:solidFill>
                  <a:srgbClr val="1E222A"/>
                </a:solidFill>
              </a:defRPr>
            </a:pPr>
            <a:r>
              <a:t>- Deterministic stage order improves reproducibility and operational explainability.</a:t>
            </a:r>
          </a:p>
          <a:p>
            <a:pPr>
              <a:defRPr sz="1200">
                <a:solidFill>
                  <a:srgbClr val="1E222A"/>
                </a:solidFill>
              </a:defRPr>
            </a:pPr>
            <a:r>
              <a:t>- Each stage enforces explicit quality gates before downstream compute is consumed.</a:t>
            </a:r>
          </a:p>
          <a:p>
            <a:pPr>
              <a:defRPr sz="1200">
                <a:solidFill>
                  <a:srgbClr val="1E222A"/>
                </a:solidFill>
              </a:defRPr>
            </a:pPr>
            <a:r>
              <a:t>- Model split (generator vs judge) reduces self-evaluation bias in grading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33001"/>
            <a:ext cx="11643055" cy="57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122F5F"/>
                </a:solidFill>
              </a:defRPr>
            </a:pPr>
            <a:r>
              <a:rPr sz="3000" b="1">
                <a:solidFill>
                  <a:srgbClr val="111827"/>
                </a:solidFill>
                <a:latin typeface="Arial"/>
              </a:rPr>
              <a:t>6. Question Generation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0118" y="1269093"/>
            <a:ext cx="11240801" cy="464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42526C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10 types, benefits, examples, and why few-shot prevents trivial lookups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6567" y="1733589"/>
            <a:ext cx="5481052" cy="3576618"/>
          </a:xfrm>
          <a:prstGeom prst="roundRect">
            <a:avLst/>
          </a:prstGeom>
          <a:solidFill>
            <a:srgbClr val="E9F2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400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Types 1-5 (Core Analytical)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1) Analysis -&gt; uncover drivers and dependencies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2) Aggregation -&gt; improve counting accuracy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3) Comparison -&gt; expose subtle differences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4) Inference -&gt; test implied understanding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5) Causal -&gt; validate cause-effect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3418" y="1733589"/>
            <a:ext cx="5481052" cy="3576618"/>
          </a:xfrm>
          <a:prstGeom prst="roundRect">
            <a:avLst/>
          </a:prstGeom>
          <a:solidFill>
            <a:srgbClr val="E9FCF4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400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Types 6-10 (Advanced Reasoning)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6) Temporal -&gt; verify timeline consistency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7) Multi-hop -&gt; connect distant facts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8) Synthesis -&gt; integrate 3+ evidence points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9) Evaluation -&gt; rate claim support strength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10) Counterfactual -&gt; test causal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017" y="5496006"/>
            <a:ext cx="11147902" cy="928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3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Few-shot effect: GOOD and BAD examples teach the model what 'complex' looks like, reducing trivial lookup questions.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3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Practical impact: fewer weak questions pass forward, so downstream answer retries are lower.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76" y="274320"/>
            <a:ext cx="11216341" cy="554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122F5F"/>
                </a:solidFill>
              </a:defRPr>
            </a:pPr>
            <a:r>
              <a:rPr sz="3000" b="1">
                <a:solidFill>
                  <a:srgbClr val="111827"/>
                </a:solidFill>
                <a:latin typeface="Arial"/>
              </a:rPr>
              <a:t>7. Question Generation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665" y="1079770"/>
            <a:ext cx="10828830" cy="4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42526C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Pictorial flow: generate, filter, validate, and loop</a:t>
            </a:r>
          </a:p>
        </p:txBody>
      </p:sp>
      <p:pic>
        <p:nvPicPr>
          <p:cNvPr id="4" name="Picture 3" descr="slide_visual_13_question_algorithm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160" y="1393000"/>
            <a:ext cx="10739336" cy="331129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35149" y="2735417"/>
            <a:ext cx="1700394" cy="340078"/>
          </a:xfrm>
          <a:prstGeom prst="roundRect">
            <a:avLst/>
          </a:prstGeom>
          <a:solidFill>
            <a:srgbClr val="FFFF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1) Prompt + LLM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8971" y="2735417"/>
            <a:ext cx="1610900" cy="340078"/>
          </a:xfrm>
          <a:prstGeom prst="roundRect">
            <a:avLst/>
          </a:prstGeom>
          <a:solidFill>
            <a:srgbClr val="FFFF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2) Parse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54619" y="2198451"/>
            <a:ext cx="1924131" cy="340078"/>
          </a:xfrm>
          <a:prstGeom prst="roundRect">
            <a:avLst/>
          </a:prstGeom>
          <a:solidFill>
            <a:srgbClr val="FFFF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3) Dedup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54619" y="2735417"/>
            <a:ext cx="1924131" cy="340078"/>
          </a:xfrm>
          <a:prstGeom prst="roundRect">
            <a:avLst/>
          </a:prstGeom>
          <a:solidFill>
            <a:srgbClr val="FFFF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4) Quality Gates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02486" y="2198451"/>
            <a:ext cx="1968878" cy="340078"/>
          </a:xfrm>
          <a:prstGeom prst="roundRect">
            <a:avLst/>
          </a:prstGeom>
          <a:solidFill>
            <a:srgbClr val="FFFF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5) Accept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02486" y="2735417"/>
            <a:ext cx="1968878" cy="340078"/>
          </a:xfrm>
          <a:prstGeom prst="roundRect">
            <a:avLst/>
          </a:prstGeom>
          <a:solidFill>
            <a:srgbClr val="FFFF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6) Regenerate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9848" y="2466934"/>
            <a:ext cx="1387164" cy="340078"/>
          </a:xfrm>
          <a:prstGeom prst="roundRect">
            <a:avLst/>
          </a:prstGeom>
          <a:solidFill>
            <a:srgbClr val="FFFF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7) Final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160" y="4883285"/>
            <a:ext cx="10828830" cy="170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Flow interpretation: prompt build -&gt; LLM generation -&gt; parse -&gt; dedup -&gt; quality gates -&gt; final validated set.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Upper path enforces grounding/comprehensiveness acceptance; lower loop represents targeted regeneration cycles.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Tradeoff: extra loop cost improves final question diversity and reduces downstream answer failures.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72349"/>
            <a:ext cx="11643055" cy="57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122F5F"/>
                </a:solidFill>
              </a:defRPr>
            </a:pPr>
            <a:r>
              <a:rPr sz="3000" b="1">
                <a:solidFill>
                  <a:srgbClr val="111827"/>
                </a:solidFill>
                <a:latin typeface="Arial"/>
              </a:rPr>
              <a:t>8. Question Quality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0118" y="1408442"/>
            <a:ext cx="11240801" cy="464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42526C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Grounding + comprehensiveness hard gates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5916" y="2151636"/>
            <a:ext cx="3437269" cy="3065673"/>
          </a:xfrm>
          <a:prstGeom prst="roundRect">
            <a:avLst/>
          </a:prstGeom>
          <a:solidFill>
            <a:srgbClr val="E9F2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400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Gate A: Grounding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Purpose: reject out-of-doc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Default: min_conf=0.7, max_retry=2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Tradeoff: precision vs latency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61884" y="2151636"/>
            <a:ext cx="3437269" cy="3065673"/>
          </a:xfrm>
          <a:prstGeom prst="roundRect">
            <a:avLst/>
          </a:prstGeom>
          <a:solidFill>
            <a:srgbClr val="E9FCF4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400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Gate B: Comprehensiveness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Purpose: reject trivial lookups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Default: min_score=0.6, max_attempts=2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Tradeoff: depth vs extra LLM calls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77851" y="2151636"/>
            <a:ext cx="3437269" cy="3065673"/>
          </a:xfrm>
          <a:prstGeom prst="roundRect">
            <a:avLst/>
          </a:prstGeom>
          <a:solidFill>
            <a:srgbClr val="F0EC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400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Method: Semantic-first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Purpose: keep checks fast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Default for question validation path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Risk: misses some nuanced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017" y="5542456"/>
            <a:ext cx="11147902" cy="743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Net effect: questions are both answerable and meaningful before answer generation starts.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76" y="274320"/>
            <a:ext cx="11216341" cy="554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122F5F"/>
                </a:solidFill>
              </a:defRPr>
            </a:pPr>
            <a:r>
              <a:rPr sz="3000" b="1">
                <a:solidFill>
                  <a:srgbClr val="111827"/>
                </a:solidFill>
                <a:latin typeface="Arial"/>
              </a:rPr>
              <a:t>9. Structured Answer Prompt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665" y="1079770"/>
            <a:ext cx="10828830" cy="4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42526C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Pictorial prompt constraints and output branches</a:t>
            </a:r>
          </a:p>
        </p:txBody>
      </p:sp>
      <p:pic>
        <p:nvPicPr>
          <p:cNvPr id="4" name="Picture 3" descr="slide_visual_14_answer_promp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160" y="1348253"/>
            <a:ext cx="10739336" cy="340078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90401" y="2019462"/>
            <a:ext cx="1968878" cy="340078"/>
          </a:xfrm>
          <a:prstGeom prst="roundRect">
            <a:avLst/>
          </a:prstGeom>
          <a:solidFill>
            <a:srgbClr val="E1F3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028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Document +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27763" y="2019462"/>
            <a:ext cx="1968878" cy="340078"/>
          </a:xfrm>
          <a:prstGeom prst="roundRect">
            <a:avLst/>
          </a:prstGeom>
          <a:solidFill>
            <a:srgbClr val="E1F3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028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Prompt Constraints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75630" y="2019462"/>
            <a:ext cx="1745142" cy="340078"/>
          </a:xfrm>
          <a:prstGeom prst="roundRect">
            <a:avLst/>
          </a:prstGeom>
          <a:solidFill>
            <a:srgbClr val="E1F3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028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Answer Gen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9256" y="1706231"/>
            <a:ext cx="2103120" cy="340078"/>
          </a:xfrm>
          <a:prstGeom prst="roundRect">
            <a:avLst/>
          </a:prstGeom>
          <a:solidFill>
            <a:srgbClr val="E1FFEE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0E563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Counting-First Branch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89256" y="2466934"/>
            <a:ext cx="2103120" cy="340078"/>
          </a:xfrm>
          <a:prstGeom prst="roundRect">
            <a:avLst/>
          </a:prstGeom>
          <a:solidFill>
            <a:srgbClr val="FFEEE1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763412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Insufficient-Info Branch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71365" y="2064209"/>
            <a:ext cx="1834635" cy="340078"/>
          </a:xfrm>
          <a:prstGeom prst="roundRect">
            <a:avLst/>
          </a:prstGeom>
          <a:solidFill>
            <a:srgbClr val="E9F6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028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Answer +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4509" y="2824912"/>
            <a:ext cx="2192614" cy="340078"/>
          </a:xfrm>
          <a:prstGeom prst="roundRect">
            <a:avLst/>
          </a:prstGeom>
          <a:solidFill>
            <a:srgbClr val="FFEEE1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763412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Insufficient Info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71365" y="2466934"/>
            <a:ext cx="1834635" cy="340078"/>
          </a:xfrm>
          <a:prstGeom prst="roundRect">
            <a:avLst/>
          </a:prstGeom>
          <a:solidFill>
            <a:srgbClr val="FFEEE1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763412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Fallback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160" y="4883285"/>
            <a:ext cx="10739336" cy="170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The visual maps prompt constraints to output behavior: answer + supporting evidence or explicit insufficiency path.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Counting-first branch enforces itemization before totals, reducing aggregation mistakes.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Branch-based prompt design increases factual consistency at temperature 0.3 while preserving auditability.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160" y="6136207"/>
            <a:ext cx="10739336" cy="402725"/>
          </a:xfrm>
          <a:prstGeom prst="roundRect">
            <a:avLst/>
          </a:prstGeom>
          <a:solidFill>
            <a:srgbClr val="F0F6FF"/>
          </a:solidFill>
          <a:ln>
            <a:solidFill>
              <a:srgbClr val="AA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A386A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Key takeaway: Prompt structure enforces both factuality and explainability.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357800"/>
            <a:ext cx="11489953" cy="56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122F5F"/>
                </a:solidFill>
              </a:defRPr>
            </a:pPr>
            <a:r>
              <a:rPr sz="3000" b="1">
                <a:solidFill>
                  <a:srgbClr val="111827"/>
                </a:solidFill>
                <a:latin typeface="Arial"/>
              </a:rPr>
              <a:t>10. Answer Validation and Retry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675" y="1182898"/>
            <a:ext cx="11092989" cy="458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42526C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Grounding-first acceptance policy</a:t>
            </a:r>
          </a:p>
        </p:txBody>
      </p:sp>
      <p:pic>
        <p:nvPicPr>
          <p:cNvPr id="4" name="Picture 3" descr="slide_visual_06_answer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331" y="1457931"/>
            <a:ext cx="5959043" cy="504226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95847" y="1778803"/>
            <a:ext cx="1925229" cy="348374"/>
          </a:xfrm>
          <a:prstGeom prst="roundRect">
            <a:avLst/>
          </a:prstGeom>
          <a:solidFill>
            <a:srgbClr val="E9F6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028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Generated Answer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2753" y="3153967"/>
            <a:ext cx="1558519" cy="348374"/>
          </a:xfrm>
          <a:prstGeom prst="roundRect">
            <a:avLst/>
          </a:prstGeom>
          <a:solidFill>
            <a:srgbClr val="E9F6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028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Grounding 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62951" y="1962158"/>
            <a:ext cx="2016907" cy="348374"/>
          </a:xfrm>
          <a:prstGeom prst="roundRect">
            <a:avLst/>
          </a:prstGeom>
          <a:solidFill>
            <a:srgbClr val="E1FFEE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0E563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Supported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62951" y="3520677"/>
            <a:ext cx="2016907" cy="348374"/>
          </a:xfrm>
          <a:prstGeom prst="roundRect">
            <a:avLst/>
          </a:prstGeom>
          <a:solidFill>
            <a:srgbClr val="FFEEE1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763412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Ungrounded Claims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04432" y="4987519"/>
            <a:ext cx="1971068" cy="348374"/>
          </a:xfrm>
          <a:prstGeom prst="roundRect">
            <a:avLst/>
          </a:prstGeom>
          <a:solidFill>
            <a:srgbClr val="FFF7DC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60490F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Accept / Retry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9352" y="1732964"/>
            <a:ext cx="5500655" cy="440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Initial answer is checked by hallucination checker.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If not grounded at required confidence -&gt; regenerate up to 3 times.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Best available answer is retained for transparency, not silently dropped.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6225"/>
            <a:ext cx="11643055" cy="57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122F5F"/>
                </a:solidFill>
              </a:defRPr>
            </a:pPr>
            <a:r>
              <a:rPr sz="3000" b="1">
                <a:solidFill>
                  <a:srgbClr val="111827"/>
                </a:solidFill>
                <a:latin typeface="Arial"/>
              </a:rPr>
              <a:t>11. Coverage Validator + Targeted Rewrite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0118" y="1292318"/>
            <a:ext cx="11240801" cy="464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42526C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New quality layer for question-answer alignment</a:t>
            </a:r>
          </a:p>
        </p:txBody>
      </p:sp>
      <p:pic>
        <p:nvPicPr>
          <p:cNvPr id="4" name="Picture 3" descr="slide_visual_06_answer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968" y="1756814"/>
            <a:ext cx="5573951" cy="464495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66317" y="2081961"/>
            <a:ext cx="1811534" cy="353016"/>
          </a:xfrm>
          <a:prstGeom prst="roundRect">
            <a:avLst/>
          </a:prstGeom>
          <a:solidFill>
            <a:srgbClr val="E9F6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028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Initial Answer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70750" y="3057403"/>
            <a:ext cx="1765084" cy="353016"/>
          </a:xfrm>
          <a:prstGeom prst="roundRect">
            <a:avLst/>
          </a:prstGeom>
          <a:solidFill>
            <a:srgbClr val="E9F6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028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Coverage 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28734" y="2081961"/>
            <a:ext cx="1625735" cy="353016"/>
          </a:xfrm>
          <a:prstGeom prst="roundRect">
            <a:avLst/>
          </a:prstGeom>
          <a:solidFill>
            <a:srgbClr val="E1FFEE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0E563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Covered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28734" y="3568348"/>
            <a:ext cx="1625735" cy="353016"/>
          </a:xfrm>
          <a:prstGeom prst="roundRect">
            <a:avLst/>
          </a:prstGeom>
          <a:solidFill>
            <a:srgbClr val="FFEEE1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763412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Low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1402" y="4961836"/>
            <a:ext cx="2043782" cy="353016"/>
          </a:xfrm>
          <a:prstGeom prst="roundRect">
            <a:avLst/>
          </a:prstGeom>
          <a:solidFill>
            <a:srgbClr val="FFF7DC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60490F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Targeted Rewrite (x1)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68083" y="4961836"/>
            <a:ext cx="1532836" cy="353016"/>
          </a:xfrm>
          <a:prstGeom prst="roundRect">
            <a:avLst/>
          </a:prstGeom>
          <a:solidFill>
            <a:srgbClr val="E9F6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1028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Grounding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017" y="1942612"/>
            <a:ext cx="5295253" cy="4459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Purpose: detect grounded-but-incomplete answers that miss parts of the question.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If coverage is low, run one targeted rewrite using missing-point feedback.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Safety: rewritten answer is accepted only if grounding/confidence still passes.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Outcome: improves completeness without increasing hallucination risk.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75789" y="274320"/>
            <a:ext cx="7640116" cy="37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122F5F"/>
                </a:solidFill>
              </a:defRPr>
            </a:pPr>
            <a:r>
              <a:rPr sz="3000" b="1">
                <a:solidFill>
                  <a:srgbClr val="111827"/>
                </a:solidFill>
                <a:latin typeface="Arial"/>
              </a:rPr>
              <a:t>12. Hallucination Checking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97709" y="822960"/>
            <a:ext cx="73761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42526C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Method-level strengths and limits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19629" y="1310640"/>
            <a:ext cx="2255520" cy="2194560"/>
          </a:xfrm>
          <a:prstGeom prst="roundRect">
            <a:avLst/>
          </a:prstGeom>
          <a:solidFill>
            <a:srgbClr val="E9F2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400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Semantic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Strength: fast, CPU, no GPU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Weakness: limited for counting/inference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Use: first-pass filter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58029" y="1310640"/>
            <a:ext cx="2255520" cy="2194560"/>
          </a:xfrm>
          <a:prstGeom prst="roundRect">
            <a:avLst/>
          </a:prstGeom>
          <a:solidFill>
            <a:srgbClr val="F0EC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400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LLM Judge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Strength: handles reasoning/aggregation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Weakness: slower and GPU-expensive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Use: high-ambiguity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96429" y="1310640"/>
            <a:ext cx="2255520" cy="2194560"/>
          </a:xfrm>
          <a:prstGeom prst="roundRect">
            <a:avLst/>
          </a:prstGeom>
          <a:solidFill>
            <a:srgbClr val="E9FCF4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400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Hybrid (Default)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Strength: speed-accuracy balance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Weakness: extra routing logic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Use: production default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8669" y="3657600"/>
            <a:ext cx="7315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Hybrid captures most cases cheaply, escalates only uncertain edges.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Independent judge model gives stronger quality signal than self-judging.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6225"/>
            <a:ext cx="11643055" cy="57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122F5F"/>
                </a:solidFill>
              </a:defRPr>
            </a:pPr>
            <a:r>
              <a:rPr sz="3000" b="1">
                <a:solidFill>
                  <a:srgbClr val="111827"/>
                </a:solidFill>
                <a:latin typeface="Arial"/>
              </a:rPr>
              <a:t>13. Hybrid Grading Decision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0118" y="1292318"/>
            <a:ext cx="11240801" cy="464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42526C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Adaptive routing logic</a:t>
            </a:r>
          </a:p>
        </p:txBody>
      </p:sp>
      <p:pic>
        <p:nvPicPr>
          <p:cNvPr id="4" name="Picture 3" descr="slide_visual_07_hybrid_gr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17" y="1571016"/>
            <a:ext cx="5945548" cy="483075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1715" y="1942612"/>
            <a:ext cx="1997332" cy="353016"/>
          </a:xfrm>
          <a:prstGeom prst="roundRect">
            <a:avLst/>
          </a:prstGeom>
          <a:solidFill>
            <a:srgbClr val="E1FFEE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0E563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A) Fast Semantic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1715" y="2732256"/>
            <a:ext cx="1997332" cy="353016"/>
          </a:xfrm>
          <a:prstGeom prst="roundRect">
            <a:avLst/>
          </a:prstGeom>
          <a:solidFill>
            <a:srgbClr val="F0EC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3A2478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B) Judge Fallback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83186" y="3150302"/>
            <a:ext cx="2090231" cy="353016"/>
          </a:xfrm>
          <a:prstGeom prst="roundRect">
            <a:avLst/>
          </a:prstGeom>
          <a:solidFill>
            <a:srgbClr val="E9F6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1028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C) Merge + Final Verdict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84363" y="1942612"/>
            <a:ext cx="5202354" cy="4459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A) Fast Semantic Path: high-confidence answers are accepted quickly.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B) Judge Fallback Path: low-confidence cases invoke the independent LLM judge.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C) Merge + Final Verdict: confidence combines evidence from both checks.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Tradeoff: slight routing complexity yields major efficiency gains.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7618" y="274320"/>
            <a:ext cx="11296458" cy="558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122F5F"/>
                </a:solidFill>
              </a:defRPr>
            </a:pPr>
            <a:r>
              <a:rPr sz="3000" b="1">
                <a:solidFill>
                  <a:srgbClr val="111827"/>
                </a:solidFill>
                <a:latin typeface="Arial"/>
              </a:rPr>
              <a:t>14. Output Schema Made Simple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7885" y="1085523"/>
            <a:ext cx="10906179" cy="450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42526C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How to read one result file in under 30 seconds</a:t>
            </a:r>
          </a:p>
        </p:txBody>
      </p:sp>
      <p:pic>
        <p:nvPicPr>
          <p:cNvPr id="4" name="Picture 3" descr="slide_visual_08_output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780" y="1446058"/>
            <a:ext cx="4236284" cy="225334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8019" y="1716459"/>
            <a:ext cx="3425081" cy="1892808"/>
          </a:xfrm>
          <a:prstGeom prst="roundRect">
            <a:avLst/>
          </a:prstGeom>
          <a:solidFill>
            <a:srgbClr val="E9F2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400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Block 1: Document context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document.id, title, source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Input identity for traceability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58568" y="1716459"/>
            <a:ext cx="3425081" cy="1892808"/>
          </a:xfrm>
          <a:prstGeom prst="roundRect">
            <a:avLst/>
          </a:prstGeom>
          <a:solidFill>
            <a:srgbClr val="E9FCF4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400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Block 2: QA details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qa_pairs: question + answer + grading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Per-pair confidence and issues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8019" y="3879668"/>
            <a:ext cx="3425081" cy="1892808"/>
          </a:xfrm>
          <a:prstGeom prst="roundRect">
            <a:avLst/>
          </a:prstGeom>
          <a:solidFill>
            <a:srgbClr val="F0EC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400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Block 3: Generation metadata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question_generation / answer_generation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Models, provider, timestamps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8568" y="3879668"/>
            <a:ext cx="3425081" cy="1892808"/>
          </a:xfrm>
          <a:prstGeom prst="roundRect">
            <a:avLst/>
          </a:prstGeom>
          <a:solidFill>
            <a:srgbClr val="FFF0E5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400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Block 4: Final summary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grading_summary + run_metadata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Overall grade, confidence,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97780" y="3969802"/>
            <a:ext cx="4416552" cy="1532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Interpretation example: if grade is C with low confidence, inspect qa_pairs.issues first, then trace back to question_generation/comprehensiveness metadata.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8019" y="6178078"/>
            <a:ext cx="10816045" cy="405601"/>
          </a:xfrm>
          <a:prstGeom prst="roundRect">
            <a:avLst/>
          </a:prstGeom>
          <a:solidFill>
            <a:srgbClr val="F0F6FF"/>
          </a:solidFill>
          <a:ln>
            <a:solidFill>
              <a:srgbClr val="AA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A386A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Key takeaway: Read outputs as four blocks: context, QA details, generation metadata, final summary.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363326"/>
            <a:ext cx="11643055" cy="57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122F5F"/>
                </a:solidFill>
              </a:defRPr>
            </a:pPr>
            <a:r>
              <a:rPr sz="3000" b="1">
                <a:solidFill>
                  <a:srgbClr val="111827"/>
                </a:solidFill>
                <a:latin typeface="Arial"/>
              </a:rPr>
              <a:t>15. Configuration Knobs That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0118" y="1199419"/>
            <a:ext cx="11240801" cy="464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42526C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Operational tuning from config/config.yaml</a:t>
            </a:r>
          </a:p>
        </p:txBody>
      </p:sp>
      <p:pic>
        <p:nvPicPr>
          <p:cNvPr id="4" name="Picture 3" descr="slide_visual_09_config_tu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968" y="1571016"/>
            <a:ext cx="5759749" cy="492365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52115" y="5705030"/>
            <a:ext cx="1811534" cy="353016"/>
          </a:xfrm>
          <a:prstGeom prst="roundRect">
            <a:avLst/>
          </a:prstGeom>
          <a:solidFill>
            <a:srgbClr val="E1FFEE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0E563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Quality Knob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49448" y="5705030"/>
            <a:ext cx="1811534" cy="353016"/>
          </a:xfrm>
          <a:prstGeom prst="roundRect">
            <a:avLst/>
          </a:prstGeom>
          <a:solidFill>
            <a:srgbClr val="FFF7DC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60490F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Latency Knob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46781" y="5705030"/>
            <a:ext cx="1254139" cy="353016"/>
          </a:xfrm>
          <a:prstGeom prst="roundRect">
            <a:avLst/>
          </a:prstGeom>
          <a:solidFill>
            <a:srgbClr val="F0EC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3A2478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Cost Knob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017" y="1849713"/>
            <a:ext cx="5295253" cy="1300588"/>
          </a:xfrm>
          <a:prstGeom prst="roundRect">
            <a:avLst/>
          </a:prstGeom>
          <a:solidFill>
            <a:srgbClr val="E9F2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400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Question generation knobs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complexity, num_questions, dedup threshold,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grounding + comprehensiveness thresholds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017" y="3289651"/>
            <a:ext cx="5295253" cy="1300588"/>
          </a:xfrm>
          <a:prstGeom prst="roundRect">
            <a:avLst/>
          </a:prstGeom>
          <a:solidFill>
            <a:srgbClr val="E9FCF4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400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Answer generation knobs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temperature, retry limits,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coverage validation thresholds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017" y="4729588"/>
            <a:ext cx="5295253" cy="1300588"/>
          </a:xfrm>
          <a:prstGeom prst="roundRect">
            <a:avLst/>
          </a:prstGeom>
          <a:solidFill>
            <a:srgbClr val="F0EC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400">
                <a:solidFill>
                  <a:srgbClr val="192D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Grading knobs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hallucination.method and judge model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D3A5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semantic | keyword | llm | hybrid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2767" y="1849713"/>
            <a:ext cx="5388152" cy="1021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Image mapping: Quality Knob -&gt; complexity/coverage strictness.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Latency Knob -&gt; retry/fallback frequency and path depth.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Cost Knob -&gt; judge-model usage and compute footprint.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6225"/>
            <a:ext cx="11643055" cy="57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1F3864"/>
                </a:solidFill>
              </a:defRPr>
            </a:pPr>
            <a:r>
              <a:t>16. Whole Workflow Sequence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0118" y="1292318"/>
            <a:ext cx="11240801" cy="464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5C6573"/>
                </a:solidFill>
              </a:defRPr>
            </a:pPr>
            <a:r>
              <a:t>From source document to validated and graded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3017" y="2128411"/>
            <a:ext cx="2043782" cy="1486387"/>
          </a:xfrm>
          <a:prstGeom prst="roundRect">
            <a:avLst/>
          </a:prstGeom>
          <a:solidFill>
            <a:srgbClr val="F4F7FC"/>
          </a:solidFill>
          <a:ln w="15240">
            <a:solidFill>
              <a:srgbClr val="CD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250">
                <a:solidFill>
                  <a:srgbClr val="1E222A"/>
                </a:solidFill>
              </a:defRPr>
            </a:pPr>
            <a:r>
              <a:t>Step 1: Ingest</a:t>
            </a:r>
          </a:p>
          <a:p>
            <a:pPr>
              <a:defRPr sz="1100">
                <a:solidFill>
                  <a:srgbClr val="1E222A"/>
                </a:solidFill>
              </a:defRPr>
            </a:pPr>
            <a:r>
              <a:t>- Load input document</a:t>
            </a:r>
          </a:p>
          <a:p>
            <a:pPr>
              <a:defRPr sz="1100">
                <a:solidFill>
                  <a:srgbClr val="1E222A"/>
                </a:solidFill>
              </a:defRPr>
            </a:pPr>
            <a:r>
              <a:t>- Normalize + segment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75497" y="2128411"/>
            <a:ext cx="2043782" cy="1486387"/>
          </a:xfrm>
          <a:prstGeom prst="roundRect">
            <a:avLst/>
          </a:prstGeom>
          <a:solidFill>
            <a:srgbClr val="EEF5FF"/>
          </a:solidFill>
          <a:ln w="15240">
            <a:solidFill>
              <a:srgbClr val="CD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250">
                <a:solidFill>
                  <a:srgbClr val="1E222A"/>
                </a:solidFill>
              </a:defRPr>
            </a:pPr>
            <a:r>
              <a:t>Step 2: Questioning</a:t>
            </a:r>
          </a:p>
          <a:p>
            <a:pPr>
              <a:defRPr sz="1100">
                <a:solidFill>
                  <a:srgbClr val="1E222A"/>
                </a:solidFill>
              </a:defRPr>
            </a:pPr>
            <a:r>
              <a:t>- Generate candidate questions</a:t>
            </a:r>
          </a:p>
          <a:p>
            <a:pPr>
              <a:defRPr sz="1100">
                <a:solidFill>
                  <a:srgbClr val="1E222A"/>
                </a:solidFill>
              </a:defRPr>
            </a:pPr>
            <a:r>
              <a:t>- Deduplicate + validate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97976" y="2128411"/>
            <a:ext cx="2043782" cy="1486387"/>
          </a:xfrm>
          <a:prstGeom prst="roundRect">
            <a:avLst/>
          </a:prstGeom>
          <a:solidFill>
            <a:srgbClr val="EEF5FF"/>
          </a:solidFill>
          <a:ln w="15240">
            <a:solidFill>
              <a:srgbClr val="CD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250">
                <a:solidFill>
                  <a:srgbClr val="1E222A"/>
                </a:solidFill>
              </a:defRPr>
            </a:pPr>
            <a:r>
              <a:t>Step 3: Answering</a:t>
            </a:r>
          </a:p>
          <a:p>
            <a:pPr>
              <a:defRPr sz="1100">
                <a:solidFill>
                  <a:srgbClr val="1E222A"/>
                </a:solidFill>
              </a:defRPr>
            </a:pPr>
            <a:r>
              <a:t>- Generate candidate answers</a:t>
            </a:r>
          </a:p>
          <a:p>
            <a:pPr>
              <a:defRPr sz="1100">
                <a:solidFill>
                  <a:srgbClr val="1E222A"/>
                </a:solidFill>
              </a:defRPr>
            </a:pPr>
            <a:r>
              <a:t>- Retry + coverage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20455" y="2128411"/>
            <a:ext cx="2043782" cy="1486387"/>
          </a:xfrm>
          <a:prstGeom prst="roundRect">
            <a:avLst/>
          </a:prstGeom>
          <a:solidFill>
            <a:srgbClr val="EEF5FF"/>
          </a:solidFill>
          <a:ln w="15240">
            <a:solidFill>
              <a:srgbClr val="CD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250">
                <a:solidFill>
                  <a:srgbClr val="1E222A"/>
                </a:solidFill>
              </a:defRPr>
            </a:pPr>
            <a:r>
              <a:t>Step 4: Grading</a:t>
            </a:r>
          </a:p>
          <a:p>
            <a:pPr>
              <a:defRPr sz="1100">
                <a:solidFill>
                  <a:srgbClr val="1E222A"/>
                </a:solidFill>
              </a:defRPr>
            </a:pPr>
            <a:r>
              <a:t>- Run hybrid hallucination checks</a:t>
            </a:r>
          </a:p>
          <a:p>
            <a:pPr>
              <a:defRPr sz="1100">
                <a:solidFill>
                  <a:srgbClr val="1E222A"/>
                </a:solidFill>
              </a:defRPr>
            </a:pPr>
            <a:r>
              <a:t>- Attach confidence + issues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42936" y="2128411"/>
            <a:ext cx="1857983" cy="1486387"/>
          </a:xfrm>
          <a:prstGeom prst="roundRect">
            <a:avLst/>
          </a:prstGeom>
          <a:solidFill>
            <a:srgbClr val="F4F7FC"/>
          </a:solidFill>
          <a:ln w="15240">
            <a:solidFill>
              <a:srgbClr val="CD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250">
                <a:solidFill>
                  <a:srgbClr val="1E222A"/>
                </a:solidFill>
              </a:defRPr>
            </a:pPr>
            <a:r>
              <a:t>Step 5: Persist</a:t>
            </a:r>
          </a:p>
          <a:p>
            <a:pPr>
              <a:defRPr sz="1100">
                <a:solidFill>
                  <a:srgbClr val="1E222A"/>
                </a:solidFill>
              </a:defRPr>
            </a:pPr>
            <a:r>
              <a:t>- Save outputs + summary</a:t>
            </a:r>
          </a:p>
          <a:p>
            <a:pPr>
              <a:defRPr sz="1100">
                <a:solidFill>
                  <a:srgbClr val="1E222A"/>
                </a:solidFill>
              </a:defRPr>
            </a:pPr>
            <a:r>
              <a:t>- Emit run metadata</a:t>
            </a:r>
          </a:p>
        </p:txBody>
      </p:sp>
      <p:sp>
        <p:nvSpPr>
          <p:cNvPr id="9" name="Chevron 8"/>
          <p:cNvSpPr/>
          <p:nvPr/>
        </p:nvSpPr>
        <p:spPr>
          <a:xfrm>
            <a:off x="2643249" y="2685806"/>
            <a:ext cx="185797" cy="371596"/>
          </a:xfrm>
          <a:prstGeom prst="chevron">
            <a:avLst/>
          </a:prstGeom>
          <a:solidFill>
            <a:srgbClr val="8291AA"/>
          </a:solidFill>
          <a:ln>
            <a:solidFill>
              <a:srgbClr val="829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4965728" y="2685806"/>
            <a:ext cx="185798" cy="371596"/>
          </a:xfrm>
          <a:prstGeom prst="chevron">
            <a:avLst/>
          </a:prstGeom>
          <a:solidFill>
            <a:srgbClr val="8291AA"/>
          </a:solidFill>
          <a:ln>
            <a:solidFill>
              <a:srgbClr val="829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7288208" y="2685806"/>
            <a:ext cx="185798" cy="371596"/>
          </a:xfrm>
          <a:prstGeom prst="chevron">
            <a:avLst/>
          </a:prstGeom>
          <a:solidFill>
            <a:srgbClr val="8291AA"/>
          </a:solidFill>
          <a:ln>
            <a:solidFill>
              <a:srgbClr val="829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9610688" y="2685806"/>
            <a:ext cx="185798" cy="371596"/>
          </a:xfrm>
          <a:prstGeom prst="chevron">
            <a:avLst/>
          </a:prstGeom>
          <a:solidFill>
            <a:srgbClr val="8291AA"/>
          </a:solidFill>
          <a:ln>
            <a:solidFill>
              <a:srgbClr val="829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017" y="4357991"/>
            <a:ext cx="11147902" cy="2043782"/>
          </a:xfrm>
          <a:prstGeom prst="rect">
            <a:avLst/>
          </a:prstGeom>
          <a:solidFill>
            <a:srgbClr val="F8FAFF"/>
          </a:solidFill>
          <a:ln w="12700">
            <a:solidFill>
              <a:srgbClr val="CDD4E0"/>
            </a:solidFill>
          </a:ln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F3864"/>
                </a:solidFill>
              </a:defRPr>
            </a:pPr>
            <a:r>
              <a:t>Key decision gates</a:t>
            </a:r>
          </a:p>
          <a:p>
            <a:pPr>
              <a:defRPr sz="1200">
                <a:solidFill>
                  <a:srgbClr val="1E222A"/>
                </a:solidFill>
              </a:defRPr>
            </a:pPr>
            <a:r>
              <a:t>- Gate A (QG): reject trivial or ungrounded questions before answer generation.</a:t>
            </a:r>
          </a:p>
          <a:p>
            <a:pPr>
              <a:defRPr sz="1200">
                <a:solidFill>
                  <a:srgbClr val="1E222A"/>
                </a:solidFill>
              </a:defRPr>
            </a:pPr>
            <a:r>
              <a:t>- Gate B (AG): retry ungrounded answers, then run targeted coverage rewrite once.</a:t>
            </a:r>
          </a:p>
          <a:p>
            <a:pPr>
              <a:defRPr sz="1200">
                <a:solidFill>
                  <a:srgbClr val="1E222A"/>
                </a:solidFill>
              </a:defRPr>
            </a:pPr>
            <a:r>
              <a:t>- Gate C (Grade): route to judge-model fallback when semantic confidence is low.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09776"/>
            <a:ext cx="11643055" cy="57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122F5F"/>
                </a:solidFill>
              </a:defRPr>
            </a:pPr>
            <a:r>
              <a:rPr sz="3000" b="1">
                <a:solidFill>
                  <a:srgbClr val="111827"/>
                </a:solidFill>
                <a:latin typeface="Arial"/>
              </a:rPr>
              <a:t>17. Core Tradeoff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0118" y="1245869"/>
            <a:ext cx="11240801" cy="464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42526C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Accuracy vs latency vs compute cost</a:t>
            </a:r>
          </a:p>
        </p:txBody>
      </p:sp>
      <p:pic>
        <p:nvPicPr>
          <p:cNvPr id="4" name="Picture 3" descr="slide_visual_10_tradeoff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16" y="1617465"/>
            <a:ext cx="5388152" cy="464495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12767" y="1896163"/>
            <a:ext cx="5388152" cy="4552060"/>
          </a:xfrm>
          <a:prstGeom prst="roundRect">
            <a:avLst/>
          </a:prstGeom>
          <a:solidFill>
            <a:srgbClr val="F5F8FF"/>
          </a:solidFill>
          <a:ln>
            <a:solidFill>
              <a:srgbClr val="AAB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b="1" sz="1500">
                <a:solidFill>
                  <a:srgbClr val="1A386A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Design Choice | Upside | Downside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300">
                <a:solidFill>
                  <a:srgbClr val="2E384C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High question complexity | Better stress-test of comprehension | More generation instability risk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300">
                <a:solidFill>
                  <a:srgbClr val="2E384C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Low answer temperature | Factual consistency | Less linguistic flexibility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300">
                <a:solidFill>
                  <a:srgbClr val="2E384C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Hybrid grading | Better speed/quality balance | More decision logic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300">
                <a:solidFill>
                  <a:srgbClr val="2E384C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Coverage rewrite pass | Completeness gains | Additional LLM call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7618" y="274320"/>
            <a:ext cx="11296458" cy="558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122F5F"/>
                </a:solidFill>
              </a:defRPr>
            </a:pPr>
            <a:r>
              <a:rPr sz="3000" b="1">
                <a:solidFill>
                  <a:srgbClr val="111827"/>
                </a:solidFill>
                <a:latin typeface="Arial"/>
              </a:rPr>
              <a:t>18. Reliability and Failure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7885" y="1085523"/>
            <a:ext cx="10906179" cy="450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42526C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How the workflow degrades safely</a:t>
            </a:r>
          </a:p>
        </p:txBody>
      </p:sp>
      <p:pic>
        <p:nvPicPr>
          <p:cNvPr id="4" name="Picture 3" descr="slide_visual_12_reliability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176" y="1446058"/>
            <a:ext cx="5498156" cy="468695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96443" y="4510604"/>
            <a:ext cx="1577340" cy="342508"/>
          </a:xfrm>
          <a:prstGeom prst="roundRect">
            <a:avLst/>
          </a:prstGeom>
          <a:solidFill>
            <a:srgbClr val="E9F6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10285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A) Input Guard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3516" y="4510604"/>
            <a:ext cx="1802674" cy="342508"/>
          </a:xfrm>
          <a:prstGeom prst="roundRect">
            <a:avLst/>
          </a:prstGeom>
          <a:solidFill>
            <a:srgbClr val="FFF7DC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60490F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B) Retry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0989" y="4510604"/>
            <a:ext cx="1847740" cy="342508"/>
          </a:xfrm>
          <a:prstGeom prst="roundRect">
            <a:avLst/>
          </a:prstGeom>
          <a:solidFill>
            <a:srgbClr val="F0EC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3A2478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C) Fallback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79385" y="2212194"/>
            <a:ext cx="1982941" cy="342508"/>
          </a:xfrm>
          <a:prstGeom prst="roundRect">
            <a:avLst/>
          </a:prstGeom>
          <a:solidFill>
            <a:srgbClr val="E1FFEE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0E563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D) Audit 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8019" y="1626325"/>
            <a:ext cx="5408022" cy="432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A) Input Guard: invalid or empty questions are explicitly marked, never silently ignored.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B) Retry Control: insufficient-information path prevents forced hallucinated answers.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C) Fallback Path: semantic-to-judge escalation handles hard reasoning cases.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D) Audit Trail: all issues are stored with reasons for operator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8019" y="6178078"/>
            <a:ext cx="10816045" cy="405601"/>
          </a:xfrm>
          <a:prstGeom prst="roundRect">
            <a:avLst/>
          </a:prstGeom>
          <a:solidFill>
            <a:srgbClr val="F0F6FF"/>
          </a:solidFill>
          <a:ln>
            <a:solidFill>
              <a:srgbClr val="AA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A386A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Key takeaway: Map each reliability bullet to its A/B/C/D callout for quick explanation.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09776"/>
            <a:ext cx="11643055" cy="57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1F3864"/>
                </a:solidFill>
              </a:defRPr>
            </a:pPr>
            <a:r>
              <a:t>19. Deployment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0118" y="1245869"/>
            <a:ext cx="11240801" cy="464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5C6573"/>
                </a:solidFill>
              </a:defRPr>
            </a:pPr>
            <a:r>
              <a:t>Offline/air-gapped split-model deployment for controlled operations</a:t>
            </a:r>
          </a:p>
        </p:txBody>
      </p:sp>
      <p:pic>
        <p:nvPicPr>
          <p:cNvPr id="4" name="Picture 3" descr="slide_visual_11_offline_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852160" cy="461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783080"/>
            <a:ext cx="5212080" cy="4526280"/>
          </a:xfrm>
          <a:prstGeom prst="rect">
            <a:avLst/>
          </a:prstGeom>
          <a:solidFill>
            <a:srgbClr val="F8FAFF"/>
          </a:solidFill>
          <a:ln w="12700">
            <a:solidFill>
              <a:srgbClr val="CDD4E0"/>
            </a:solidFill>
          </a:ln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F3864"/>
                </a:solidFill>
              </a:defRPr>
            </a:pPr>
            <a:r>
              <a:t>Deployment characteristics</a:t>
            </a:r>
          </a:p>
          <a:p>
            <a:pPr>
              <a:defRPr sz="1150">
                <a:solidFill>
                  <a:srgbClr val="1E222A"/>
                </a:solidFill>
              </a:defRPr>
            </a:pPr>
            <a:r>
              <a:t>- 6-file transfer bundle: vLLM rootfs, qagredo image, Llama model, Qwen model, embedding model, workflow bundle.</a:t>
            </a:r>
          </a:p>
          <a:p>
            <a:pPr>
              <a:defRPr sz="1150">
                <a:solidFill>
                  <a:srgbClr val="1E222A"/>
                </a:solidFill>
              </a:defRPr>
            </a:pPr>
            <a:r>
              <a:t>- Model split: Llama handles generation, Qwen handles independent judging.</a:t>
            </a:r>
          </a:p>
          <a:p>
            <a:pPr>
              <a:defRPr sz="1150">
                <a:solidFill>
                  <a:srgbClr val="1E222A"/>
                </a:solidFill>
              </a:defRPr>
            </a:pPr>
            <a:r>
              <a:t>- Air-gapped capable: deterministic runtime with no external service dependency.</a:t>
            </a:r>
          </a:p>
          <a:p>
            <a:pPr>
              <a:defRPr sz="1150">
                <a:solidFill>
                  <a:srgbClr val="1E222A"/>
                </a:solidFill>
              </a:defRPr>
            </a:pPr>
            <a:r>
              <a:t>- Operational benefit: predictable resource isolation across two GPUs + CPU runner.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363326"/>
            <a:ext cx="11643055" cy="57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122F5F"/>
                </a:solidFill>
              </a:defRPr>
            </a:pPr>
            <a:r>
              <a:rPr sz="3000" b="1">
                <a:solidFill>
                  <a:srgbClr val="111827"/>
                </a:solidFill>
                <a:latin typeface="Arial"/>
              </a:rPr>
              <a:t>20. Senior-Level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0118" y="1199419"/>
            <a:ext cx="11240801" cy="464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42526C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Action plan for next optimization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5916" y="1756814"/>
            <a:ext cx="11055003" cy="3530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1) Add per-answer metadata: coverage_score, rewrite_applied, fallback_path.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2) Build calibration dashboard: confidence distribution vs manual audit outcomes.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3) Introduce workload profiles (fast/standard/strict) via config presets.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4) Expand reliability testing with synthetic hard cases for counting and counterfactuals.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rgbClr val="233045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5) Keep current architecture: strongest balance of explainability and quality.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916" y="5565681"/>
            <a:ext cx="11147902" cy="928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300">
                <a:solidFill>
                  <a:srgbClr val="5A6880"/>
                </a:solidFill>
              </a:defRPr>
            </a:pPr>
            <a:r>
              <a:rPr b="0" sz="1800">
                <a:solidFill>
                  <a:srgbClr val="1F2937"/>
                </a:solidFill>
                <a:latin typeface="Arial"/>
              </a:rPr>
              <a:t>Visual credits: custom-generated professional illustrations for technical presentation use.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28016"/>
            <a:ext cx="1142359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rial"/>
              </a:rPr>
              <a:t>QAG Workflow - Executive Multi-Turn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03504"/>
            <a:ext cx="1142359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475569"/>
                </a:solidFill>
                <a:latin typeface="Arial"/>
              </a:rPr>
              <a:t>High-level algorithm flow with explicit self-correction loops.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14400"/>
            <a:ext cx="11423599" cy="274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4048" y="1042415"/>
            <a:ext cx="7802684" cy="55412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69612" y="1042415"/>
            <a:ext cx="3438035" cy="5541264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AG_flowchart_execu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378" y="1170431"/>
            <a:ext cx="1756024" cy="52852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15916" y="1152143"/>
            <a:ext cx="314542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  <a:latin typeface="Arial"/>
              </a:rPr>
              <a:t>Algorithm Legend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916" y="1481327"/>
            <a:ext cx="3145427" cy="4974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120" b="0">
                <a:solidFill>
                  <a:srgbClr val="334155"/>
                </a:solidFill>
                <a:latin typeface="Arial"/>
              </a:rPr>
              <a:t>Validation: output grounded in source text.</a:t>
            </a:r>
          </a:p>
          <a:p>
            <a:pPr>
              <a:spcAft>
                <a:spcPts val="600"/>
              </a:spcAft>
            </a:pPr>
            <a:r>
              <a:rPr sz="1120" b="0">
                <a:solidFill>
                  <a:srgbClr val="334155"/>
                </a:solidFill>
                <a:latin typeface="Arial"/>
              </a:rPr>
              <a:t>Comprehensiveness: non-trivial, self-contained question quality.</a:t>
            </a:r>
          </a:p>
          <a:p>
            <a:pPr>
              <a:spcAft>
                <a:spcPts val="600"/>
              </a:spcAft>
            </a:pPr>
            <a:r>
              <a:rPr sz="1120" b="0">
                <a:solidFill>
                  <a:srgbClr val="334155"/>
                </a:solidFill>
                <a:latin typeface="Arial"/>
              </a:rPr>
              <a:t>Coverage: answer addresses all requested parts.</a:t>
            </a:r>
          </a:p>
          <a:p>
            <a:pPr>
              <a:spcAft>
                <a:spcPts val="600"/>
              </a:spcAft>
            </a:pPr>
            <a:r>
              <a:rPr sz="1120" b="0">
                <a:solidFill>
                  <a:srgbClr val="334155"/>
                </a:solidFill>
                <a:latin typeface="Arial"/>
              </a:rPr>
              <a:t>Hybrid grading: semantic fast path + LLM fallback.</a:t>
            </a:r>
          </a:p>
          <a:p>
            <a:pPr>
              <a:spcAft>
                <a:spcPts val="600"/>
              </a:spcAft>
            </a:pPr>
            <a:r>
              <a:rPr sz="1120" b="0">
                <a:solidFill>
                  <a:srgbClr val="334155"/>
                </a:solidFill>
                <a:latin typeface="Arial"/>
              </a:rPr>
              <a:t>Loop A: question refinement loop.</a:t>
            </a:r>
          </a:p>
          <a:p>
            <a:pPr>
              <a:spcAft>
                <a:spcPts val="600"/>
              </a:spcAft>
            </a:pPr>
            <a:r>
              <a:rPr sz="1120" b="0">
                <a:solidFill>
                  <a:srgbClr val="334155"/>
                </a:solidFill>
                <a:latin typeface="Arial"/>
              </a:rPr>
              <a:t>Loop B: answer retry loop (up to 3).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rial"/>
              </a:rPr>
              <a:t>QAG Detailed Flowchart (2/5)</a:t>
            </a:r>
          </a:p>
        </p:txBody>
      </p:sp>
      <p:pic>
        <p:nvPicPr>
          <p:cNvPr id="3" name="Picture 2" descr="QAG_flowchart_detailed_opt_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960" y="713232"/>
            <a:ext cx="5185775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rial"/>
              </a:rPr>
              <a:t>QAG Detailed Flowchart (3/5)</a:t>
            </a:r>
          </a:p>
        </p:txBody>
      </p:sp>
      <p:pic>
        <p:nvPicPr>
          <p:cNvPr id="3" name="Picture 2" descr="QAG_flowchart_detailed_opt_p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960" y="713232"/>
            <a:ext cx="5185775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rial"/>
              </a:rPr>
              <a:t>QAG Detailed Flowchart (4/5)</a:t>
            </a:r>
          </a:p>
        </p:txBody>
      </p:sp>
      <p:pic>
        <p:nvPicPr>
          <p:cNvPr id="3" name="Picture 2" descr="QAG_flowchart_detailed_opt_par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960" y="713232"/>
            <a:ext cx="5185775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rial"/>
              </a:rPr>
              <a:t>QAG Detailed Flowchart (5/5)</a:t>
            </a:r>
          </a:p>
        </p:txBody>
      </p:sp>
      <p:pic>
        <p:nvPicPr>
          <p:cNvPr id="3" name="Picture 2" descr="QAG_flowchart_detailed_opt_part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514" y="713232"/>
            <a:ext cx="5656667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