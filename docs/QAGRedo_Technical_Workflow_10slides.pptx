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visual_01_titl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11494"/>
            <a:ext cx="8595360" cy="483501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1011494"/>
            <a:ext cx="8595360" cy="4835010"/>
          </a:xfrm>
          <a:prstGeom prst="rect">
            <a:avLst/>
          </a:prstGeom>
          <a:solidFill>
            <a:srgbClr val="081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0054" y="2042963"/>
            <a:ext cx="7607083" cy="141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QAGRedo Technical Workflow: Algorithmic Rationale</a:t>
            </a:r>
          </a:p>
          <a:p>
            <a:pPr>
              <a:defRPr sz="160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Why each algorithm is selected: failure mode -&gt; mechanism -&gt; tradeoff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37549"/>
            <a:ext cx="8387407" cy="62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2. Problem Framing and Design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592088"/>
            <a:ext cx="8387407" cy="346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Failure modes mapped to algorithmic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3637" y="2007992"/>
            <a:ext cx="4366997" cy="3327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Need: multi-hop QA over long documents with citation-level grounding.</a:t>
            </a:r>
          </a:p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Failure modes: hallucination, shallow questions, partial answers, grading drift.</a:t>
            </a:r>
          </a:p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Design principle: decompose into constrained subproblems with measurable gates.</a:t>
            </a:r>
          </a:p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Outcome: bounded-error behavior where each gate removes a specific risk.</a:t>
            </a:r>
          </a:p>
        </p:txBody>
      </p:sp>
      <p:pic>
        <p:nvPicPr>
          <p:cNvPr id="5" name="Picture 4" descr="slide_visual_15_need_risk_response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634" y="2007992"/>
            <a:ext cx="4159045" cy="339655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14610" y="4953983"/>
            <a:ext cx="866467" cy="249542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Need: Long-context, high-fidelity QA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85054" y="4953983"/>
            <a:ext cx="866467" cy="249542"/>
          </a:xfrm>
          <a:prstGeom prst="roundRect">
            <a:avLst/>
          </a:prstGeom>
          <a:solidFill>
            <a:srgbClr val="FFEEE1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Risk: Hallucination + incompleteness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55498" y="4953983"/>
            <a:ext cx="1074420" cy="249542"/>
          </a:xfrm>
          <a:prstGeom prst="roundRect">
            <a:avLst/>
          </a:prstGeom>
          <a:solidFill>
            <a:srgbClr val="E9FCF4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Response: Multi-gate algorithm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33894" y="4953983"/>
            <a:ext cx="797150" cy="249542"/>
          </a:xfrm>
          <a:prstGeom prst="roundRect">
            <a:avLst/>
          </a:prstGeom>
          <a:solidFill>
            <a:srgbClr val="F0EC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Target: Precision under latency 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637" y="5508522"/>
            <a:ext cx="8318090" cy="311928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Key takeaway: Algorithm choices are justified by failure-mode coverage, not preference.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78256"/>
            <a:ext cx="8595360" cy="639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3.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546545"/>
            <a:ext cx="8595360" cy="355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Dependency-ordered stages with explicit quality gates</a:t>
            </a:r>
          </a:p>
        </p:txBody>
      </p:sp>
      <p:pic>
        <p:nvPicPr>
          <p:cNvPr id="4" name="Picture 3" descr="slide_visual_03_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92" y="1759653"/>
            <a:ext cx="8382251" cy="220211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517450" y="2221386"/>
            <a:ext cx="1456237" cy="269936"/>
          </a:xfrm>
          <a:prstGeom prst="roundRect">
            <a:avLst/>
          </a:prstGeom>
          <a:solidFill>
            <a:srgbClr val="E9F2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Stage 1: Diversity-Constrained Question Synthesis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22315" y="2221386"/>
            <a:ext cx="1456237" cy="269936"/>
          </a:xfrm>
          <a:prstGeom prst="roundRect">
            <a:avLst/>
          </a:prstGeom>
          <a:solidFill>
            <a:srgbClr val="E9FCF4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Stage 2: Retrieval-Grounded Answer Synthesis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27180" y="2221386"/>
            <a:ext cx="1598310" cy="269936"/>
          </a:xfrm>
          <a:prstGeom prst="roundRect">
            <a:avLst/>
          </a:prstGeom>
          <a:solidFill>
            <a:srgbClr val="F0EC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Stage 3: Confidence-Calibrated Hybrid Grading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74117" y="2221386"/>
            <a:ext cx="1314166" cy="269936"/>
          </a:xfrm>
          <a:prstGeom prst="roundRect">
            <a:avLst/>
          </a:prstGeom>
          <a:solidFill>
            <a:srgbClr val="FFEEE1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Stage 4: Typed Output + Audit Trace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428" y="4174878"/>
            <a:ext cx="1989008" cy="1065540"/>
          </a:xfrm>
          <a:prstGeom prst="roundRect">
            <a:avLst/>
          </a:prstGeom>
          <a:solidFill>
            <a:srgbClr val="E8F1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Stage 1 | Taxonomy sampling + dedup filtering | Maximizes information gain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18509" y="4174878"/>
            <a:ext cx="1989008" cy="1065540"/>
          </a:xfrm>
          <a:prstGeom prst="roundRect">
            <a:avLst/>
          </a:prstGeom>
          <a:solidFill>
            <a:srgbClr val="E9FCF4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Stage 2 | Grounding classifier + bounded retries | Minimizes unsupported 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49590" y="4174878"/>
            <a:ext cx="1989008" cy="1065540"/>
          </a:xfrm>
          <a:prstGeom prst="roundRect">
            <a:avLst/>
          </a:prstGeom>
          <a:solidFill>
            <a:srgbClr val="F0EC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Stage 3 | Embedding confidence + judge fallback | Balances speed and robustness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80671" y="4174878"/>
            <a:ext cx="1704864" cy="1065540"/>
          </a:xfrm>
          <a:prstGeom prst="roundRect">
            <a:avLst/>
          </a:prstGeom>
          <a:solidFill>
            <a:srgbClr val="FFEEE1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Stage 4 | Structured schema + provenance fields | Enables deterministic downstream QA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356" y="5560080"/>
            <a:ext cx="8524323" cy="319662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Key takeaway: Upstream algorithm quality reduces downstream correction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78256"/>
            <a:ext cx="8595360" cy="639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4. Runtime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546545"/>
            <a:ext cx="8595360" cy="355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Model isolation for throughput and statistical independence</a:t>
            </a:r>
          </a:p>
        </p:txBody>
      </p:sp>
      <p:pic>
        <p:nvPicPr>
          <p:cNvPr id="4" name="Picture 3" descr="slide_visual_04_architecture_contai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59653"/>
            <a:ext cx="5114594" cy="383594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02022" y="2043797"/>
            <a:ext cx="3196621" cy="923468"/>
          </a:xfrm>
          <a:prstGeom prst="roundRect">
            <a:avLst/>
          </a:prstGeom>
          <a:solidFill>
            <a:srgbClr val="E8F1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Generator (qagredo-vllm) | Llama | GPU 0 | Port 8100 | Autoregressive question/answer synthesis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02022" y="3109337"/>
            <a:ext cx="3196621" cy="923468"/>
          </a:xfrm>
          <a:prstGeom prst="roundRect">
            <a:avLst/>
          </a:prstGeom>
          <a:solidFill>
            <a:srgbClr val="F0EC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Judge (qagredo-vllm-judge) | Qwen | GPU 1 | Port 8101 | Independent adjudication to reduce correlated error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2022" y="4174878"/>
            <a:ext cx="3196621" cy="923468"/>
          </a:xfrm>
          <a:prstGeom prst="roundRect">
            <a:avLst/>
          </a:prstGeom>
          <a:solidFill>
            <a:srgbClr val="E9FCF4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Runner (qagredo-runner) | CPU | internal | Orchestration + MiniLM embedding checks + policy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356" y="5560080"/>
            <a:ext cx="8524323" cy="319662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Key takeaway: Separate generator and judge models improve reliability and parallel throughput.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78256"/>
            <a:ext cx="8595360" cy="639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5. Question Generation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546545"/>
            <a:ext cx="8595360" cy="355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Why taxonomy + few-shot contrastive prompting + filtering</a:t>
            </a:r>
          </a:p>
        </p:txBody>
      </p:sp>
      <p:pic>
        <p:nvPicPr>
          <p:cNvPr id="4" name="Picture 3" descr="slide_visual_05_question_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56" y="1830689"/>
            <a:ext cx="4262161" cy="34807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20626" y="2043797"/>
            <a:ext cx="3978017" cy="3409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10 archetypes cover key reasoning modes: factual, causal, comparative, and counterfactual.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GOOD/BAD few-shot examples sharpen decision boundaries better than positive-only prompts.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MiniLM cosine dedup removes near-duplicates while keeping topic diversity.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Grounding pre-check drops unanswerable questions and saves downstream retries.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356" y="5560080"/>
            <a:ext cx="8524323" cy="319662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Key takeaway: Better question entropy and grounding upstream dominate final system quality.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37549"/>
            <a:ext cx="8387407" cy="62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6. Answer Generation + Grounding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592088"/>
            <a:ext cx="8387407" cy="346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Constrained decoding with bounded corrective retries</a:t>
            </a:r>
          </a:p>
        </p:txBody>
      </p:sp>
      <p:pic>
        <p:nvPicPr>
          <p:cNvPr id="4" name="Picture 3" descr="slide_visual_06_answer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365" y="1869358"/>
            <a:ext cx="4436314" cy="360450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0" y="2111969"/>
            <a:ext cx="1386348" cy="263406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Constrained Decoder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62323" y="3013095"/>
            <a:ext cx="1178396" cy="263406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Sentence-Level Grounding 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0038" y="2181286"/>
            <a:ext cx="1490324" cy="263406"/>
          </a:xfrm>
          <a:prstGeom prst="roundRect">
            <a:avLst/>
          </a:prstGeom>
          <a:solidFill>
            <a:srgbClr val="E1FFEE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Supported Claim 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0038" y="3290365"/>
            <a:ext cx="1490324" cy="263406"/>
          </a:xfrm>
          <a:prstGeom prst="roundRect">
            <a:avLst/>
          </a:prstGeom>
          <a:solidFill>
            <a:srgbClr val="FFEEE1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Ungrounded Claim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637" y="2146627"/>
            <a:ext cx="3881775" cy="3327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Prompt policy requires each claim to be tied to evidence spans.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Grounding fails when unsupported-claim ratio exceeds threshold.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Retry loop is bounded (N attempts) with targeted prompt repair.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If all fail, retain best support-weighted candidate with failure trace.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637" y="5508522"/>
            <a:ext cx="8318090" cy="311928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Key takeaway: Retry is a controlled optimization loop, not open-ended regeneration.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78256"/>
            <a:ext cx="8595360" cy="639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7. Coverage Validator + Targeted Rewrite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546545"/>
            <a:ext cx="8595360" cy="355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Recover completeness without sacrificing grounding</a:t>
            </a:r>
          </a:p>
        </p:txBody>
      </p:sp>
      <p:pic>
        <p:nvPicPr>
          <p:cNvPr id="4" name="Picture 3" descr="slide_visual_06_answer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518" y="1901725"/>
            <a:ext cx="4262161" cy="355180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49590" y="2150351"/>
            <a:ext cx="1349684" cy="269936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Initial Candidate Answer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0310" y="2896229"/>
            <a:ext cx="1349684" cy="269936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Coverage Estimator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91031" y="3286927"/>
            <a:ext cx="1243130" cy="269936"/>
          </a:xfrm>
          <a:prstGeom prst="roundRect">
            <a:avLst/>
          </a:prstGeom>
          <a:solidFill>
            <a:srgbClr val="FFEEE1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Missing Facets Detected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63756" y="4352468"/>
            <a:ext cx="1562792" cy="269936"/>
          </a:xfrm>
          <a:prstGeom prst="roundRect">
            <a:avLst/>
          </a:prstGeom>
          <a:solidFill>
            <a:srgbClr val="FFF7DC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Feedback-Conditioned Rewrite (x1)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356" y="2114833"/>
            <a:ext cx="3978017" cy="3409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Coverage compares question facets vs answer facets using embedding alignment.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If facet recall &lt; tau, run delta rewrite for missing aspects only.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Single rewrite cap controls p95 latency and heuristic overfitting.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Rewritten answer must pass grounding, else keep original grounded answer.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356" y="5560080"/>
            <a:ext cx="8524323" cy="319662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Key takeaway: Completeness is improved through constrained refinement, not unconstrained expansion.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78256"/>
            <a:ext cx="8595360" cy="639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8. Hybrid Grading Decision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546545"/>
            <a:ext cx="8595360" cy="355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Route cheap metrics first, escalate only uncertain cases</a:t>
            </a:r>
          </a:p>
        </p:txBody>
      </p:sp>
      <p:pic>
        <p:nvPicPr>
          <p:cNvPr id="4" name="Picture 3" descr="slide_visual_07_hybrid_gr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56" y="1830689"/>
            <a:ext cx="4546306" cy="36228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33734" y="2114833"/>
            <a:ext cx="3835945" cy="3409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Fast path: embedding confidence from answer-evidence alignment.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If confidence &gt;= tau_high and contradiction &lt;= tau_low, accept semantic grade.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Uncertain band triggers independent LLM judge (different model family).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Final score = calibrated fusion of semantic score, judge score, and penalties.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356" y="5560080"/>
            <a:ext cx="8524323" cy="319662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Key takeaway: Uncertainty-aware routing minimizes expected latency while protecting quality.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98344"/>
            <a:ext cx="8524906" cy="634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9. Output Schema as Technical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561975"/>
            <a:ext cx="8524906" cy="352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Fields are designed for reproducibility, audit, and debugging</a:t>
            </a:r>
          </a:p>
        </p:txBody>
      </p:sp>
      <p:pic>
        <p:nvPicPr>
          <p:cNvPr id="4" name="Picture 3" descr="slide_visual_08_output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899" y="1843790"/>
            <a:ext cx="3311327" cy="176134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44773" y="2055151"/>
            <a:ext cx="2677243" cy="1409075"/>
          </a:xfrm>
          <a:prstGeom prst="roundRect">
            <a:avLst/>
          </a:prstGeom>
          <a:solidFill>
            <a:srgbClr val="E9F2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Block 1: Context | doc_id, chunk_ids, source_hash | deterministic provenance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68605" y="2055151"/>
            <a:ext cx="2677243" cy="1409075"/>
          </a:xfrm>
          <a:prstGeom prst="roundRect">
            <a:avLst/>
          </a:prstGeom>
          <a:solidFill>
            <a:srgbClr val="E9FCF4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Block 2: QA Record | question_type, answer, claim-evidence links | inspectability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73" y="3675587"/>
            <a:ext cx="2677243" cy="1409075"/>
          </a:xfrm>
          <a:prstGeom prst="roundRect">
            <a:avLst/>
          </a:prstGeom>
          <a:solidFill>
            <a:srgbClr val="F0EC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Block 3: Validation Trace | grounding_score, coverage_score, retry_count | diagnosability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8605" y="3675587"/>
            <a:ext cx="2677243" cy="1409075"/>
          </a:xfrm>
          <a:prstGeom prst="roundRect">
            <a:avLst/>
          </a:prstGeom>
          <a:solidFill>
            <a:srgbClr val="FFF0E5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Block 4: Decision | route(semantic/judge), final_grade, confidence | reproducible grading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7899" y="3781268"/>
            <a:ext cx="3381780" cy="112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Low-grade triage order: unsupported claims -&gt; missing facets -&gt; judge rationale.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73" y="5542613"/>
            <a:ext cx="8454452" cy="317041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Key takeaway: Output structure encodes the reasoning path, not just final 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78256"/>
            <a:ext cx="8595360" cy="639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10. Tradeoff Tuning +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546545"/>
            <a:ext cx="8595360" cy="355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Parameter-level control of the quality-latency-cost frontier</a:t>
            </a:r>
          </a:p>
        </p:txBody>
      </p:sp>
      <p:pic>
        <p:nvPicPr>
          <p:cNvPr id="4" name="Picture 3" descr="slide_visual_10_tradeoff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92" y="1830689"/>
            <a:ext cx="4120089" cy="355180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5018" y="4991792"/>
            <a:ext cx="1172094" cy="255729"/>
          </a:xfrm>
          <a:prstGeom prst="roundRect">
            <a:avLst/>
          </a:prstGeom>
          <a:solidFill>
            <a:srgbClr val="E1FFEE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79184" y="4991792"/>
            <a:ext cx="1172094" cy="255729"/>
          </a:xfrm>
          <a:prstGeom prst="roundRect">
            <a:avLst/>
          </a:prstGeom>
          <a:solidFill>
            <a:srgbClr val="FFF7DC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Latency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3351" y="4991792"/>
            <a:ext cx="958986" cy="255729"/>
          </a:xfrm>
          <a:prstGeom prst="roundRect">
            <a:avLst/>
          </a:prstGeom>
          <a:solidFill>
            <a:srgbClr val="F0EC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7450" y="2185869"/>
            <a:ext cx="1846936" cy="255729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rPr sz="1300" b="0">
                <a:solidFill>
                  <a:srgbClr val="000000"/>
                </a:solidFill>
              </a:rPr>
              <a:t>Calibration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49590" y="2043797"/>
            <a:ext cx="4049053" cy="2628333"/>
          </a:xfrm>
          <a:prstGeom prst="roundRect">
            <a:avLst/>
          </a:prstGeom>
          <a:solidFill>
            <a:srgbClr val="F5F8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Decision Tradeoffs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Higher grounding threshold -&gt; higher precision, lower recall, more retries.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Lower dedup threshold -&gt; fewer duplicates, but reduced topical breadth.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Wider uncertainty band -&gt; more judge calls, higher robustness and latency.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Extra rewrite passes -&gt; better completeness, worse tail latency.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9590" y="4814202"/>
            <a:ext cx="4049053" cy="71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Baseline: one rewrite pass, bounded retries, judge only in uncertainty band.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Track KPIs: grounding precision, coverage recall, judge-route rate, p95 latency.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Deploy generator and judge artifacts independently to reduce coupled regressions.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356" y="5560080"/>
            <a:ext cx="8524323" cy="319662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Key takeaway: Optimize the operating frontier, not a single metric in isolation.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28016"/>
            <a:ext cx="8375904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rial"/>
              </a:rPr>
              <a:t>QAG Workflow - Executive Multi-Turn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03504"/>
            <a:ext cx="837590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475569"/>
                </a:solidFill>
                <a:latin typeface="Arial"/>
              </a:rPr>
              <a:t>High-level algorithm flow with explicit self-correction loops.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8375904" cy="274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84048" y="1042415"/>
            <a:ext cx="4540290" cy="55412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201174" y="1042415"/>
            <a:ext cx="3558778" cy="5541264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QAG_flowchart_execu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301" y="1042415"/>
            <a:ext cx="1756024" cy="52852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65392" y="1152143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  <a:latin typeface="Arial"/>
              </a:rPr>
              <a:t>Algorithm Legend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1842" y="1481327"/>
            <a:ext cx="3311806" cy="1855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20" b="0" dirty="0">
                <a:solidFill>
                  <a:srgbClr val="334155"/>
                </a:solidFill>
                <a:latin typeface="Arial"/>
              </a:rPr>
              <a:t>Validation: output grounded in source text.</a:t>
            </a:r>
          </a:p>
          <a:p>
            <a:pPr>
              <a:spcAft>
                <a:spcPts val="600"/>
              </a:spcAft>
            </a:pPr>
            <a:r>
              <a:rPr sz="1120" b="0" dirty="0">
                <a:solidFill>
                  <a:srgbClr val="334155"/>
                </a:solidFill>
                <a:latin typeface="Arial"/>
              </a:rPr>
              <a:t>Comprehensiveness: non-trivial, self-contained question quality.</a:t>
            </a:r>
          </a:p>
          <a:p>
            <a:pPr>
              <a:spcAft>
                <a:spcPts val="600"/>
              </a:spcAft>
            </a:pPr>
            <a:r>
              <a:rPr sz="1120" b="0" dirty="0">
                <a:solidFill>
                  <a:srgbClr val="334155"/>
                </a:solidFill>
                <a:latin typeface="Arial"/>
              </a:rPr>
              <a:t>Coverage: answer addresses all requested parts.</a:t>
            </a:r>
          </a:p>
          <a:p>
            <a:pPr>
              <a:spcAft>
                <a:spcPts val="600"/>
              </a:spcAft>
            </a:pPr>
            <a:r>
              <a:rPr sz="1120" b="0" dirty="0">
                <a:solidFill>
                  <a:srgbClr val="334155"/>
                </a:solidFill>
                <a:latin typeface="Arial"/>
              </a:rPr>
              <a:t>Hybrid grading: semantic fast path + LLM fallback.</a:t>
            </a:r>
          </a:p>
          <a:p>
            <a:pPr>
              <a:spcAft>
                <a:spcPts val="600"/>
              </a:spcAft>
            </a:pPr>
            <a:r>
              <a:rPr sz="1120" b="0" dirty="0">
                <a:solidFill>
                  <a:srgbClr val="334155"/>
                </a:solidFill>
                <a:latin typeface="Arial"/>
              </a:rPr>
              <a:t>Loop A: question refinement loop.</a:t>
            </a:r>
          </a:p>
          <a:p>
            <a:pPr>
              <a:spcAft>
                <a:spcPts val="600"/>
              </a:spcAft>
            </a:pPr>
            <a:r>
              <a:rPr sz="1120" b="0" dirty="0">
                <a:solidFill>
                  <a:srgbClr val="334155"/>
                </a:solidFill>
                <a:latin typeface="Arial"/>
              </a:rPr>
              <a:t>Loop B: answer retry loop (up to 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925</Words>
  <Application>Microsoft Office PowerPoint</Application>
  <PresentationFormat>On-screen Show (4:3)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Toh Yew Hong</cp:lastModifiedBy>
  <cp:revision>2</cp:revision>
  <dcterms:created xsi:type="dcterms:W3CDTF">2013-01-27T09:14:16Z</dcterms:created>
  <dcterms:modified xsi:type="dcterms:W3CDTF">2026-02-25T07:51:05Z</dcterms:modified>
  <cp:category/>
</cp:coreProperties>
</file>