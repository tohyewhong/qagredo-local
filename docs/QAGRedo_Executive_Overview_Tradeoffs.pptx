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645920"/>
            <a:ext cx="107899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F2C60"/>
                </a:solidFill>
              </a:defRPr>
            </a:pPr>
            <a:r>
              <a:t>QAGRedo: Executive Overview</a:t>
            </a:r>
          </a:p>
          <a:p>
            <a:pPr>
              <a:defRPr sz="2200">
                <a:solidFill>
                  <a:srgbClr val="44526A"/>
                </a:solidFill>
              </a:defRPr>
            </a:pPr>
            <a:r>
              <a:t>What it does, why it is strong, and where the trade-offs 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2C60"/>
                </a:solidFill>
              </a:defRPr>
            </a:pPr>
            <a:r>
              <a:t>1. What QAGRedo Does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44526A"/>
                </a:solidFill>
              </a:defRPr>
            </a:pPr>
            <a:r>
              <a:t>Offline document QA with grounding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5577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33045"/>
                </a:solidFill>
              </a:defRPr>
            </a:pPr>
            <a:r>
              <a:t>Ingests heterogeneous documents and normalizes to a canonical JSONL format.</a:t>
            </a:r>
          </a:p>
          <a:p>
            <a:pPr>
              <a:spcAft>
                <a:spcPts val="800"/>
              </a:spcAft>
              <a:defRPr sz="1600">
                <a:solidFill>
                  <a:srgbClr val="233045"/>
                </a:solidFill>
              </a:defRPr>
            </a:pPr>
            <a:r>
              <a:t>Generates complex questions (not only fact lookups) from each document.</a:t>
            </a:r>
          </a:p>
          <a:p>
            <a:pPr>
              <a:spcAft>
                <a:spcPts val="800"/>
              </a:spcAft>
              <a:defRPr sz="1600">
                <a:solidFill>
                  <a:srgbClr val="233045"/>
                </a:solidFill>
              </a:defRPr>
            </a:pPr>
            <a:r>
              <a:t>Generates answers with evidence and validates grounding quality before final output.</a:t>
            </a:r>
          </a:p>
          <a:p>
            <a:pPr>
              <a:spcAft>
                <a:spcPts val="800"/>
              </a:spcAft>
              <a:defRPr sz="1600">
                <a:solidFill>
                  <a:srgbClr val="233045"/>
                </a:solidFill>
              </a:defRPr>
            </a:pPr>
            <a:r>
              <a:t>Grades each Q&amp;A pair and emits auditable artifacts (issues, confidence, traceable metadata).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6172200"/>
            <a:ext cx="10972800" cy="411480"/>
          </a:xfrm>
          <a:prstGeom prst="roundRect">
            <a:avLst/>
          </a:prstGeom>
          <a:solidFill>
            <a:srgbClr val="EEF5FF"/>
          </a:solidFill>
          <a:ln>
            <a:solidFill>
              <a:srgbClr val="AABF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83768"/>
                </a:solidFill>
              </a:defRPr>
            </a:pPr>
            <a:r>
              <a:t>Executive takeaway: QAGRedo is an auditable QA evaluation pipeline, not just a single prompt call.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2C60"/>
                </a:solidFill>
              </a:defRPr>
            </a:pPr>
            <a:r>
              <a:t>2. Why This Architecture Is Good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44526A"/>
                </a:solidFill>
              </a:defRPr>
            </a:pPr>
            <a:r>
              <a:t>Separation of concerns improves trust and operability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566160" cy="1828800"/>
          </a:xfrm>
          <a:prstGeom prst="roundRect">
            <a:avLst/>
          </a:prstGeom>
          <a:solidFill>
            <a:srgbClr val="E8F1FF"/>
          </a:solidFill>
          <a:ln>
            <a:solidFill>
              <a:srgbClr val="AAB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112C5A"/>
                </a:solidFill>
              </a:defRPr>
            </a:pPr>
            <a:r>
              <a:t>Generator model</a:t>
            </a:r>
          </a:p>
          <a:p>
            <a:pPr>
              <a:spcAft>
                <a:spcPts val="200"/>
              </a:spcAft>
              <a:defRPr sz="1200">
                <a:solidFill>
                  <a:srgbClr val="2A3850"/>
                </a:solidFill>
              </a:defRPr>
            </a:pPr>
            <a:r>
              <a:t>Produces questions and answers</a:t>
            </a:r>
          </a:p>
          <a:p>
            <a:pPr>
              <a:spcAft>
                <a:spcPts val="200"/>
              </a:spcAft>
              <a:defRPr sz="1200">
                <a:solidFill>
                  <a:srgbClr val="2A3850"/>
                </a:solidFill>
              </a:defRPr>
            </a:pPr>
            <a:r>
              <a:t>Optimized for useful content generation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1645920"/>
            <a:ext cx="3566160" cy="1828800"/>
          </a:xfrm>
          <a:prstGeom prst="roundRect">
            <a:avLst/>
          </a:prstGeom>
          <a:solidFill>
            <a:srgbClr val="F0ECFF"/>
          </a:solidFill>
          <a:ln>
            <a:solidFill>
              <a:srgbClr val="AAB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112C5A"/>
                </a:solidFill>
              </a:defRPr>
            </a:pPr>
            <a:r>
              <a:t>Judge model</a:t>
            </a:r>
          </a:p>
          <a:p>
            <a:pPr>
              <a:spcAft>
                <a:spcPts val="200"/>
              </a:spcAft>
              <a:defRPr sz="1200">
                <a:solidFill>
                  <a:srgbClr val="2A3850"/>
                </a:solidFill>
              </a:defRPr>
            </a:pPr>
            <a:r>
              <a:t>Independent hallucination evaluation</a:t>
            </a:r>
          </a:p>
          <a:p>
            <a:pPr>
              <a:spcAft>
                <a:spcPts val="200"/>
              </a:spcAft>
              <a:defRPr sz="1200">
                <a:solidFill>
                  <a:srgbClr val="2A3850"/>
                </a:solidFill>
              </a:defRPr>
            </a:pPr>
            <a:r>
              <a:t>Reduces self-evaluation bias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645920"/>
            <a:ext cx="3108960" cy="1828800"/>
          </a:xfrm>
          <a:prstGeom prst="roundRect">
            <a:avLst/>
          </a:prstGeom>
          <a:solidFill>
            <a:srgbClr val="E9FCF4"/>
          </a:solidFill>
          <a:ln>
            <a:solidFill>
              <a:srgbClr val="AAB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112C5A"/>
                </a:solidFill>
              </a:defRPr>
            </a:pPr>
            <a:r>
              <a:t>Runner orchestration layer</a:t>
            </a:r>
          </a:p>
          <a:p>
            <a:pPr>
              <a:spcAft>
                <a:spcPts val="200"/>
              </a:spcAft>
              <a:defRPr sz="1200">
                <a:solidFill>
                  <a:srgbClr val="2A3850"/>
                </a:solidFill>
              </a:defRPr>
            </a:pPr>
            <a:r>
              <a:t>Orchestrates stages and quality gates</a:t>
            </a:r>
          </a:p>
          <a:p>
            <a:pPr>
              <a:spcAft>
                <a:spcPts val="200"/>
              </a:spcAft>
              <a:defRPr sz="1200">
                <a:solidFill>
                  <a:srgbClr val="2A3850"/>
                </a:solidFill>
              </a:defRPr>
            </a:pPr>
            <a:r>
              <a:t>Runs strict LLM judge preflight checks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86200"/>
            <a:ext cx="10607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3045"/>
                </a:solidFill>
              </a:defRPr>
            </a:pPr>
            <a:r>
              <a:t>Detailed LangChain parsing flow is shown on the next two zoom slides for readability.</a:t>
            </a:r>
          </a:p>
          <a:p>
            <a:pPr>
              <a:spcAft>
                <a:spcPts val="800"/>
              </a:spcAft>
              <a:defRPr sz="1400">
                <a:solidFill>
                  <a:srgbClr val="233045"/>
                </a:solidFill>
              </a:defRPr>
            </a:pPr>
            <a:r>
              <a:t>This slide keeps only architecture responsibilities at executive level.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6172200"/>
            <a:ext cx="10972800" cy="411480"/>
          </a:xfrm>
          <a:prstGeom prst="roundRect">
            <a:avLst/>
          </a:prstGeom>
          <a:solidFill>
            <a:srgbClr val="EEF5FF"/>
          </a:solidFill>
          <a:ln>
            <a:solidFill>
              <a:srgbClr val="AABF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83768"/>
                </a:solidFill>
              </a:defRPr>
            </a:pPr>
            <a:r>
              <a:t>Executive takeaway: Independent judging + staged orchestration increases reliability and explainability.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2C60"/>
                </a:solidFill>
              </a:defRPr>
            </a:pPr>
            <a:r>
              <a:t>2A. LangChain Detail Zoom: Question Cleanup Lane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44526A"/>
                </a:solidFill>
              </a:defRPr>
            </a:pPr>
            <a:r>
              <a:t>Zoomed view to improve readability for 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8064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880"/>
                </a:solidFill>
              </a:defRPr>
            </a:pPr>
            <a:r>
              <a:t>Source: docs/qagredo_langchain_question_lane.dot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6172200"/>
            <a:ext cx="10972800" cy="411480"/>
          </a:xfrm>
          <a:prstGeom prst="roundRect">
            <a:avLst/>
          </a:prstGeom>
          <a:solidFill>
            <a:srgbClr val="EEF5FF"/>
          </a:solidFill>
          <a:ln>
            <a:solidFill>
              <a:srgbClr val="AABF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83768"/>
                </a:solidFill>
              </a:defRPr>
            </a:pPr>
            <a:r>
              <a:t>Executive takeaway: This lane shows question text cleanup and normalization before validation.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2C60"/>
                </a:solidFill>
              </a:defRPr>
            </a:pPr>
            <a:r>
              <a:t>2B. LangChain Detail Zoom: Answer Parsing Lane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44526A"/>
                </a:solidFill>
              </a:defRPr>
            </a:pPr>
            <a:r>
              <a:t>Zoomed view to improve readability for 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8064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880"/>
                </a:solidFill>
              </a:defRPr>
            </a:pPr>
            <a:r>
              <a:t>Source: docs/qagredo_langchain_answer_lane.dot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6172200"/>
            <a:ext cx="10972800" cy="411480"/>
          </a:xfrm>
          <a:prstGeom prst="roundRect">
            <a:avLst/>
          </a:prstGeom>
          <a:solidFill>
            <a:srgbClr val="EEF5FF"/>
          </a:solidFill>
          <a:ln>
            <a:solidFill>
              <a:srgbClr val="AABF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83768"/>
                </a:solidFill>
              </a:defRPr>
            </a:pPr>
            <a:r>
              <a:t>Executive takeaway: This lane shows strict JSON parse, extraction fallback, and final structured answer object.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2C60"/>
                </a:solidFill>
              </a:defRPr>
            </a:pPr>
            <a:r>
              <a:t>3. Why LangChain and LangGraph Are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44526A"/>
                </a:solidFill>
              </a:defRPr>
            </a:pPr>
            <a:r>
              <a:t>Two different problems: step quality vs workflow control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394960" cy="3566160"/>
          </a:xfrm>
          <a:prstGeom prst="roundRect">
            <a:avLst/>
          </a:prstGeom>
          <a:solidFill>
            <a:srgbClr val="E8F1FF"/>
          </a:solidFill>
          <a:ln>
            <a:solidFill>
              <a:srgbClr val="AAB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112C5A"/>
                </a:solidFill>
              </a:defRPr>
            </a:pPr>
            <a:r>
              <a:t>LangChain (inside each stage)</a:t>
            </a:r>
          </a:p>
          <a:p>
            <a:pPr>
              <a:spcAft>
                <a:spcPts val="200"/>
              </a:spcAft>
              <a:defRPr sz="1200">
                <a:solidFill>
                  <a:srgbClr val="2A3850"/>
                </a:solidFill>
              </a:defRPr>
            </a:pPr>
            <a:r>
              <a:t>Purpose: make each LLM call structured and predictable</a:t>
            </a:r>
          </a:p>
          <a:p>
            <a:pPr>
              <a:spcAft>
                <a:spcPts val="200"/>
              </a:spcAft>
              <a:defRPr sz="1200">
                <a:solidFill>
                  <a:srgbClr val="2A3850"/>
                </a:solidFill>
              </a:defRPr>
            </a:pPr>
            <a:r>
              <a:t>Used for: prompt templates, output parsing, schema discipline</a:t>
            </a:r>
          </a:p>
          <a:p>
            <a:pPr>
              <a:spcAft>
                <a:spcPts val="200"/>
              </a:spcAft>
              <a:defRPr sz="1200">
                <a:solidFill>
                  <a:srgbClr val="2A3850"/>
                </a:solidFill>
              </a:defRPr>
            </a:pPr>
            <a:r>
              <a:t>Benefit: fewer malformed outputs, easier downstream validation</a:t>
            </a:r>
          </a:p>
          <a:p>
            <a:pPr>
              <a:spcAft>
                <a:spcPts val="200"/>
              </a:spcAft>
              <a:defRPr sz="1200">
                <a:solidFill>
                  <a:srgbClr val="2A3850"/>
                </a:solidFill>
              </a:defRPr>
            </a:pPr>
            <a:r>
              <a:t>Trade-off: extra abstraction and prompt-management overhead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645920"/>
            <a:ext cx="4937760" cy="3566160"/>
          </a:xfrm>
          <a:prstGeom prst="roundRect">
            <a:avLst/>
          </a:prstGeom>
          <a:solidFill>
            <a:srgbClr val="E9FCF4"/>
          </a:solidFill>
          <a:ln>
            <a:solidFill>
              <a:srgbClr val="AAB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112C5A"/>
                </a:solidFill>
              </a:defRPr>
            </a:pPr>
            <a:r>
              <a:t>LangGraph (across stages)</a:t>
            </a:r>
          </a:p>
          <a:p>
            <a:pPr>
              <a:spcAft>
                <a:spcPts val="200"/>
              </a:spcAft>
              <a:defRPr sz="1200">
                <a:solidFill>
                  <a:srgbClr val="2A3850"/>
                </a:solidFill>
              </a:defRPr>
            </a:pPr>
            <a:r>
              <a:t>Purpose: coordinate multi-step pipeline with state and branching</a:t>
            </a:r>
          </a:p>
          <a:p>
            <a:pPr>
              <a:spcAft>
                <a:spcPts val="200"/>
              </a:spcAft>
              <a:defRPr sz="1200">
                <a:solidFill>
                  <a:srgbClr val="2A3850"/>
                </a:solidFill>
              </a:defRPr>
            </a:pPr>
            <a:r>
              <a:t>Used for: retries, fallback routing, gate-based progression</a:t>
            </a:r>
          </a:p>
          <a:p>
            <a:pPr>
              <a:spcAft>
                <a:spcPts val="200"/>
              </a:spcAft>
              <a:defRPr sz="1200">
                <a:solidFill>
                  <a:srgbClr val="2A3850"/>
                </a:solidFill>
              </a:defRPr>
            </a:pPr>
            <a:r>
              <a:t>Benefit: explicit, auditable control flow for quality governance</a:t>
            </a:r>
          </a:p>
          <a:p>
            <a:pPr>
              <a:spcAft>
                <a:spcPts val="200"/>
              </a:spcAft>
              <a:defRPr sz="1200">
                <a:solidFill>
                  <a:srgbClr val="2A3850"/>
                </a:solidFill>
              </a:defRPr>
            </a:pPr>
            <a:r>
              <a:t>Trade-off: more orchestration logic than a simple chain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394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33045"/>
                </a:solidFill>
              </a:defRPr>
            </a:pPr>
            <a:r>
              <a:t>Professional framing: LangChain optimizes local step reliability; LangGraph optimizes global process reliability.</a:t>
            </a:r>
          </a:p>
          <a:p>
            <a:pPr>
              <a:spcAft>
                <a:spcPts val="800"/>
              </a:spcAft>
              <a:defRPr sz="1300">
                <a:solidFill>
                  <a:srgbClr val="233045"/>
                </a:solidFill>
              </a:defRPr>
            </a:pPr>
            <a:r>
              <a:t>QAGRedo needs both because quality failures can occur at single-call level and at workflow-routing level.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6172200"/>
            <a:ext cx="10972800" cy="411480"/>
          </a:xfrm>
          <a:prstGeom prst="roundRect">
            <a:avLst/>
          </a:prstGeom>
          <a:solidFill>
            <a:srgbClr val="EEF5FF"/>
          </a:solidFill>
          <a:ln>
            <a:solidFill>
              <a:srgbClr val="AABF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83768"/>
                </a:solidFill>
              </a:defRPr>
            </a:pPr>
            <a:r>
              <a:t>Executive takeaway: LangChain is the per-step toolbox; LangGraph is the end-to-end traffic controller.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2C60"/>
                </a:solidFill>
              </a:defRPr>
            </a:pPr>
            <a:r>
              <a:t>4. Deep Technical Flow: LangGraph Node Routing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44526A"/>
                </a:solidFill>
              </a:defRPr>
            </a:pPr>
            <a:r>
              <a:t>Exact control path from utils/langgraph_pipeline.py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0" y="1600200"/>
            <a:ext cx="3474720" cy="2560320"/>
          </a:xfrm>
          <a:prstGeom prst="roundRect">
            <a:avLst/>
          </a:prstGeom>
          <a:solidFill>
            <a:srgbClr val="F5F8FF"/>
          </a:solidFill>
          <a:ln>
            <a:solidFill>
              <a:srgbClr val="AAB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112C5A"/>
                </a:solidFill>
              </a:defRPr>
            </a:pPr>
            <a:r>
              <a:t>What this diagram proves</a:t>
            </a:r>
          </a:p>
          <a:p>
            <a:pPr>
              <a:spcAft>
                <a:spcPts val="200"/>
              </a:spcAft>
              <a:defRPr sz="1200">
                <a:solidFill>
                  <a:srgbClr val="2A3850"/>
                </a:solidFill>
              </a:defRPr>
            </a:pPr>
            <a:r>
              <a:t>generate_questions -&gt; generate_answers -&gt; grade_primary is the default path</a:t>
            </a:r>
          </a:p>
          <a:p>
            <a:pPr>
              <a:spcAft>
                <a:spcPts val="200"/>
              </a:spcAft>
              <a:defRPr sz="1200">
                <a:solidFill>
                  <a:srgbClr val="2A3850"/>
                </a:solidFill>
              </a:defRPr>
            </a:pPr>
            <a:r>
              <a:t>If no questions/answers are produced, flow exits early with skip_reason</a:t>
            </a:r>
          </a:p>
          <a:p>
            <a:pPr>
              <a:spcAft>
                <a:spcPts val="200"/>
              </a:spcAft>
              <a:defRPr sz="1200">
                <a:solidFill>
                  <a:srgbClr val="2A3850"/>
                </a:solidFill>
              </a:defRPr>
            </a:pPr>
            <a:r>
              <a:t>grade_fallback_llm is optional compatibility path, not strict default</a:t>
            </a:r>
          </a:p>
          <a:p>
            <a:pPr>
              <a:spcAft>
                <a:spcPts val="200"/>
              </a:spcAft>
              <a:defRPr sz="1200">
                <a:solidFill>
                  <a:srgbClr val="2A3850"/>
                </a:solidFill>
              </a:defRPr>
            </a:pPr>
            <a:r>
              <a:t>Question regeneration exists inside question_generator, not as a separate graph node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4297680"/>
            <a:ext cx="3474720" cy="1737360"/>
          </a:xfrm>
          <a:prstGeom prst="roundRect">
            <a:avLst/>
          </a:prstGeom>
          <a:solidFill>
            <a:srgbClr val="FFF0E5"/>
          </a:solidFill>
          <a:ln>
            <a:solidFill>
              <a:srgbClr val="AAB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112C5A"/>
                </a:solidFill>
              </a:defRPr>
            </a:pPr>
            <a:r>
              <a:t>Optional fallback trigger (compatibility mode)</a:t>
            </a:r>
          </a:p>
          <a:p>
            <a:pPr>
              <a:spcAft>
                <a:spcPts val="200"/>
              </a:spcAft>
              <a:defRPr sz="1200">
                <a:solidFill>
                  <a:srgbClr val="2A3850"/>
                </a:solidFill>
              </a:defRPr>
            </a:pPr>
            <a:r>
              <a:t>enable_dynamic_routing = true</a:t>
            </a:r>
          </a:p>
          <a:p>
            <a:pPr>
              <a:spcAft>
                <a:spcPts val="200"/>
              </a:spcAft>
              <a:defRPr sz="1200">
                <a:solidFill>
                  <a:srgbClr val="2A3850"/>
                </a:solidFill>
              </a:defRPr>
            </a:pPr>
            <a:r>
              <a:t>compatibility grading mode is enabled</a:t>
            </a:r>
          </a:p>
          <a:p>
            <a:pPr>
              <a:spcAft>
                <a:spcPts val="200"/>
              </a:spcAft>
              <a:defRPr sz="1200">
                <a:solidFill>
                  <a:srgbClr val="2A3850"/>
                </a:solidFill>
              </a:defRPr>
            </a:pPr>
            <a:r>
              <a:t>overall_confidence &lt; fallback_threshold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064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880"/>
                </a:solidFill>
              </a:defRPr>
            </a:pPr>
            <a:r>
              <a:t>Source: utils/langgraph_pipeline.py + utils/question_generator.py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6172200"/>
            <a:ext cx="10972800" cy="411480"/>
          </a:xfrm>
          <a:prstGeom prst="roundRect">
            <a:avLst/>
          </a:prstGeom>
          <a:solidFill>
            <a:srgbClr val="EEF5FF"/>
          </a:solidFill>
          <a:ln>
            <a:solidFill>
              <a:srgbClr val="AABF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83768"/>
                </a:solidFill>
              </a:defRPr>
            </a:pPr>
            <a:r>
              <a:t>Executive takeaway: Graph-level routing handles stage transitions; question retries happen inside generation internals.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2C60"/>
                </a:solidFill>
              </a:defRPr>
            </a:pPr>
            <a:r>
              <a:t>4A. LangGraph Routing Zoom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44526A"/>
                </a:solidFill>
              </a:defRPr>
            </a:pPr>
            <a:r>
              <a:t>Core routing and fallback branch (readable print view)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8064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880"/>
                </a:solidFill>
              </a:defRPr>
            </a:pPr>
            <a:r>
              <a:t>Source: docs/qagredo_langgraph_pipeline_detailed.dot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6172200"/>
            <a:ext cx="10972800" cy="411480"/>
          </a:xfrm>
          <a:prstGeom prst="roundRect">
            <a:avLst/>
          </a:prstGeom>
          <a:solidFill>
            <a:srgbClr val="EEF5FF"/>
          </a:solidFill>
          <a:ln>
            <a:solidFill>
              <a:srgbClr val="AABF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83768"/>
                </a:solidFill>
              </a:defRPr>
            </a:pPr>
            <a:r>
              <a:t>Executive takeaway: Focus: stage transitions, skip_reason exits, and optional compatibility fallback condition.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2C60"/>
                </a:solidFill>
              </a:defRPr>
            </a:pPr>
            <a:r>
              <a:t>5. Failed Question Behavior: Does It Regenerate?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44526A"/>
                </a:solidFill>
              </a:defRPr>
            </a:pPr>
            <a:r>
              <a:t>Yes - via internal validation/comprehensiveness loops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5577840" cy="2011680"/>
          </a:xfrm>
          <a:prstGeom prst="roundRect">
            <a:avLst/>
          </a:prstGeom>
          <a:solidFill>
            <a:srgbClr val="E8F1FF"/>
          </a:solidFill>
          <a:ln>
            <a:solidFill>
              <a:srgbClr val="AAB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112C5A"/>
                </a:solidFill>
              </a:defRPr>
            </a:pPr>
            <a:r>
              <a:t>Grounding validation loop</a:t>
            </a:r>
          </a:p>
          <a:p>
            <a:pPr>
              <a:spcAft>
                <a:spcPts val="200"/>
              </a:spcAft>
              <a:defRPr sz="1200">
                <a:solidFill>
                  <a:srgbClr val="2A3850"/>
                </a:solidFill>
              </a:defRPr>
            </a:pPr>
            <a:r>
              <a:t>Function: _validate_and_regenerate_question(...)</a:t>
            </a:r>
          </a:p>
          <a:p>
            <a:pPr>
              <a:spcAft>
                <a:spcPts val="200"/>
              </a:spcAft>
              <a:defRPr sz="1200">
                <a:solidFill>
                  <a:srgbClr val="2A3850"/>
                </a:solidFill>
              </a:defRPr>
            </a:pPr>
            <a:r>
              <a:t>Check: is_grounded &amp;&amp; confidence &gt;= min_confidence_threshold</a:t>
            </a:r>
          </a:p>
          <a:p>
            <a:pPr>
              <a:spcAft>
                <a:spcPts val="200"/>
              </a:spcAft>
              <a:defRPr sz="1200">
                <a:solidFill>
                  <a:srgbClr val="2A3850"/>
                </a:solidFill>
              </a:defRPr>
            </a:pPr>
            <a:r>
              <a:t>If fail: regenerate NEW question and re-check</a:t>
            </a:r>
          </a:p>
          <a:p>
            <a:pPr>
              <a:spcAft>
                <a:spcPts val="200"/>
              </a:spcAft>
              <a:defRPr sz="1200">
                <a:solidFill>
                  <a:srgbClr val="2A3850"/>
                </a:solidFill>
              </a:defRPr>
            </a:pPr>
            <a:r>
              <a:t>Retry limit: max_regeneration_attempts (default 2)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794760"/>
            <a:ext cx="5577840" cy="2011680"/>
          </a:xfrm>
          <a:prstGeom prst="roundRect">
            <a:avLst/>
          </a:prstGeom>
          <a:solidFill>
            <a:srgbClr val="E9FCF4"/>
          </a:solidFill>
          <a:ln>
            <a:solidFill>
              <a:srgbClr val="AAB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112C5A"/>
                </a:solidFill>
              </a:defRPr>
            </a:pPr>
            <a:r>
              <a:t>Comprehensiveness loop</a:t>
            </a:r>
          </a:p>
          <a:p>
            <a:pPr>
              <a:spcAft>
                <a:spcPts val="200"/>
              </a:spcAft>
              <a:defRPr sz="1200">
                <a:solidFill>
                  <a:srgbClr val="2A3850"/>
                </a:solidFill>
              </a:defRPr>
            </a:pPr>
            <a:r>
              <a:t>Function: _check_question_comprehensiveness(...)</a:t>
            </a:r>
          </a:p>
          <a:p>
            <a:pPr>
              <a:spcAft>
                <a:spcPts val="200"/>
              </a:spcAft>
              <a:defRPr sz="1200">
                <a:solidFill>
                  <a:srgbClr val="2A3850"/>
                </a:solidFill>
              </a:defRPr>
            </a:pPr>
            <a:r>
              <a:t>Check: is_comprehensive &amp;&amp; score &gt;= comprehensiveness_min_score</a:t>
            </a:r>
          </a:p>
          <a:p>
            <a:pPr>
              <a:spcAft>
                <a:spcPts val="200"/>
              </a:spcAft>
              <a:defRPr sz="1200">
                <a:solidFill>
                  <a:srgbClr val="2A3850"/>
                </a:solidFill>
              </a:defRPr>
            </a:pPr>
            <a:r>
              <a:t>If fail: regenerate with weakness-guided prompt</a:t>
            </a:r>
          </a:p>
          <a:p>
            <a:pPr>
              <a:spcAft>
                <a:spcPts val="200"/>
              </a:spcAft>
              <a:defRPr sz="1200">
                <a:solidFill>
                  <a:srgbClr val="2A3850"/>
                </a:solidFill>
              </a:defRPr>
            </a:pPr>
            <a:r>
              <a:t>Retry limit: comprehensiveness_max_attempts (default 2)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600200"/>
            <a:ext cx="4846320" cy="1828800"/>
          </a:xfrm>
          <a:prstGeom prst="roundRect">
            <a:avLst/>
          </a:prstGeom>
          <a:solidFill>
            <a:srgbClr val="F0ECFF"/>
          </a:solidFill>
          <a:ln>
            <a:solidFill>
              <a:srgbClr val="AAB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112C5A"/>
                </a:solidFill>
              </a:defRPr>
            </a:pPr>
            <a:r>
              <a:t>Where this runs</a:t>
            </a:r>
          </a:p>
          <a:p>
            <a:pPr>
              <a:spcAft>
                <a:spcPts val="200"/>
              </a:spcAft>
              <a:defRPr sz="1200">
                <a:solidFill>
                  <a:srgbClr val="2A3850"/>
                </a:solidFill>
              </a:defRPr>
            </a:pPr>
            <a:r>
              <a:t>Inside generate_questions(...) for each question</a:t>
            </a:r>
          </a:p>
          <a:p>
            <a:pPr>
              <a:spcAft>
                <a:spcPts val="200"/>
              </a:spcAft>
              <a:defRPr sz="1200">
                <a:solidFill>
                  <a:srgbClr val="2A3850"/>
                </a:solidFill>
              </a:defRPr>
            </a:pPr>
            <a:r>
              <a:t>Before LangGraph proceeds to answer generation</a:t>
            </a:r>
          </a:p>
          <a:p>
            <a:pPr>
              <a:spcAft>
                <a:spcPts val="200"/>
              </a:spcAft>
              <a:defRPr sz="1200">
                <a:solidFill>
                  <a:srgbClr val="2A3850"/>
                </a:solidFill>
              </a:defRPr>
            </a:pPr>
            <a:r>
              <a:t>If all retries fail, best available question is still kept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3611880"/>
            <a:ext cx="4846320" cy="2194560"/>
          </a:xfrm>
          <a:prstGeom prst="roundRect">
            <a:avLst/>
          </a:prstGeom>
          <a:solidFill>
            <a:srgbClr val="F5F8FF"/>
          </a:solidFill>
          <a:ln>
            <a:solidFill>
              <a:srgbClr val="AAB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112C5A"/>
                </a:solidFill>
              </a:defRPr>
            </a:pPr>
            <a:r>
              <a:t>Config keys controlling behavior</a:t>
            </a:r>
          </a:p>
          <a:p>
            <a:pPr>
              <a:spcAft>
                <a:spcPts val="200"/>
              </a:spcAft>
              <a:defRPr sz="1200">
                <a:solidFill>
                  <a:srgbClr val="2A3850"/>
                </a:solidFill>
              </a:defRPr>
            </a:pPr>
            <a:r>
              <a:t>question_generation.validation.enable_rejection</a:t>
            </a:r>
          </a:p>
          <a:p>
            <a:pPr>
              <a:spcAft>
                <a:spcPts val="200"/>
              </a:spcAft>
              <a:defRPr sz="1200">
                <a:solidFill>
                  <a:srgbClr val="2A3850"/>
                </a:solidFill>
              </a:defRPr>
            </a:pPr>
            <a:r>
              <a:t>question_generation.validation.min_confidence_threshold</a:t>
            </a:r>
          </a:p>
          <a:p>
            <a:pPr>
              <a:spcAft>
                <a:spcPts val="200"/>
              </a:spcAft>
              <a:defRPr sz="1200">
                <a:solidFill>
                  <a:srgbClr val="2A3850"/>
                </a:solidFill>
              </a:defRPr>
            </a:pPr>
            <a:r>
              <a:t>question_generation.validation.max_regeneration_attempts</a:t>
            </a:r>
          </a:p>
          <a:p>
            <a:pPr>
              <a:spcAft>
                <a:spcPts val="200"/>
              </a:spcAft>
              <a:defRPr sz="1200">
                <a:solidFill>
                  <a:srgbClr val="2A3850"/>
                </a:solidFill>
              </a:defRPr>
            </a:pPr>
            <a:r>
              <a:t>question_generation.validation.enable_comprehensiveness_check</a:t>
            </a:r>
          </a:p>
          <a:p>
            <a:pPr>
              <a:spcAft>
                <a:spcPts val="200"/>
              </a:spcAft>
              <a:defRPr sz="1200">
                <a:solidFill>
                  <a:srgbClr val="2A3850"/>
                </a:solidFill>
              </a:defRPr>
            </a:pPr>
            <a:r>
              <a:t>question_generation.validation.comprehensiveness_min_score</a:t>
            </a:r>
          </a:p>
          <a:p>
            <a:pPr>
              <a:spcAft>
                <a:spcPts val="200"/>
              </a:spcAft>
              <a:defRPr sz="1200">
                <a:solidFill>
                  <a:srgbClr val="2A3850"/>
                </a:solidFill>
              </a:defRPr>
            </a:pPr>
            <a:r>
              <a:t>question_generation.validation.comprehensiveness_max_attempts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880"/>
                </a:solidFill>
              </a:defRPr>
            </a:pPr>
            <a:r>
              <a:t>Source: utils/question_generator.py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6172200"/>
            <a:ext cx="10972800" cy="411480"/>
          </a:xfrm>
          <a:prstGeom prst="roundRect">
            <a:avLst/>
          </a:prstGeom>
          <a:solidFill>
            <a:srgbClr val="EEF5FF"/>
          </a:solidFill>
          <a:ln>
            <a:solidFill>
              <a:srgbClr val="AABF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83768"/>
                </a:solidFill>
              </a:defRPr>
            </a:pPr>
            <a:r>
              <a:t>Executive takeaway: Answer: failed questions are regenerated in two internal loops before moving downstream.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2C60"/>
                </a:solidFill>
              </a:defRPr>
            </a:pPr>
            <a:r>
              <a:t>6. Deep Technical Flow: Answer Generator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44526A"/>
                </a:solidFill>
              </a:defRPr>
            </a:pPr>
            <a:r>
              <a:t>Exact logic from utils/answer_generator.py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80" y="1600200"/>
            <a:ext cx="3200400" cy="2743200"/>
          </a:xfrm>
          <a:prstGeom prst="roundRect">
            <a:avLst/>
          </a:prstGeom>
          <a:solidFill>
            <a:srgbClr val="F5F8FF"/>
          </a:solidFill>
          <a:ln>
            <a:solidFill>
              <a:srgbClr val="AAB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112C5A"/>
                </a:solidFill>
              </a:defRPr>
            </a:pPr>
            <a:r>
              <a:t>What this diagram proves</a:t>
            </a:r>
          </a:p>
          <a:p>
            <a:pPr>
              <a:spcAft>
                <a:spcPts val="200"/>
              </a:spcAft>
              <a:defRPr sz="1200">
                <a:solidFill>
                  <a:srgbClr val="2A3850"/>
                </a:solidFill>
              </a:defRPr>
            </a:pPr>
            <a:r>
              <a:t>Answers are generated, validated, and optionally rewritten before final append</a:t>
            </a:r>
          </a:p>
          <a:p>
            <a:pPr>
              <a:spcAft>
                <a:spcPts val="200"/>
              </a:spcAft>
              <a:defRPr sz="1200">
                <a:solidFill>
                  <a:srgbClr val="2A3850"/>
                </a:solidFill>
              </a:defRPr>
            </a:pPr>
            <a:r>
              <a:t>Ungrounded answers trigger regeneration loop up to max_regeneration_attempts</a:t>
            </a:r>
          </a:p>
          <a:p>
            <a:pPr>
              <a:spcAft>
                <a:spcPts val="200"/>
              </a:spcAft>
              <a:defRPr sz="1200">
                <a:solidFill>
                  <a:srgbClr val="2A3850"/>
                </a:solidFill>
              </a:defRPr>
            </a:pPr>
            <a:r>
              <a:t>Coverage rewrite is conditional and gated by grounding check</a:t>
            </a:r>
          </a:p>
          <a:p>
            <a:pPr>
              <a:spcAft>
                <a:spcPts val="200"/>
              </a:spcAft>
              <a:defRPr sz="1200">
                <a:solidFill>
                  <a:srgbClr val="2A3850"/>
                </a:solidFill>
              </a:defRPr>
            </a:pPr>
            <a:r>
              <a:t>Failure paths are explicit (invalid question / generation failed)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0" y="4526280"/>
            <a:ext cx="3200400" cy="1508760"/>
          </a:xfrm>
          <a:prstGeom prst="roundRect">
            <a:avLst/>
          </a:prstGeom>
          <a:solidFill>
            <a:srgbClr val="FFF0E5"/>
          </a:solidFill>
          <a:ln>
            <a:solidFill>
              <a:srgbClr val="AAB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112C5A"/>
                </a:solidFill>
              </a:defRPr>
            </a:pPr>
            <a:r>
              <a:t>Acceptance policy</a:t>
            </a:r>
          </a:p>
          <a:p>
            <a:pPr>
              <a:spcAft>
                <a:spcPts val="200"/>
              </a:spcAft>
              <a:defRPr sz="1200">
                <a:solidFill>
                  <a:srgbClr val="2A3850"/>
                </a:solidFill>
              </a:defRPr>
            </a:pPr>
            <a:r>
              <a:t>Primary acceptance: grounded + confidence &gt;= threshold</a:t>
            </a:r>
          </a:p>
          <a:p>
            <a:pPr>
              <a:spcAft>
                <a:spcPts val="200"/>
              </a:spcAft>
              <a:defRPr sz="1200">
                <a:solidFill>
                  <a:srgbClr val="2A3850"/>
                </a:solidFill>
              </a:defRPr>
            </a:pPr>
            <a:r>
              <a:t>Rewrite accepted only if revised answer is grounded</a:t>
            </a:r>
          </a:p>
          <a:p>
            <a:pPr>
              <a:spcAft>
                <a:spcPts val="200"/>
              </a:spcAft>
              <a:defRPr sz="1200">
                <a:solidFill>
                  <a:srgbClr val="2A3850"/>
                </a:solidFill>
              </a:defRPr>
            </a:pPr>
            <a:r>
              <a:t>Otherwise, keep original validated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064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880"/>
                </a:solidFill>
              </a:defRPr>
            </a:pPr>
            <a:r>
              <a:t>Source: utils/answer_generator.py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6172200"/>
            <a:ext cx="10972800" cy="411480"/>
          </a:xfrm>
          <a:prstGeom prst="roundRect">
            <a:avLst/>
          </a:prstGeom>
          <a:solidFill>
            <a:srgbClr val="EEF5FF"/>
          </a:solidFill>
          <a:ln>
            <a:solidFill>
              <a:srgbClr val="AABF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83768"/>
                </a:solidFill>
              </a:defRPr>
            </a:pPr>
            <a:r>
              <a:t>Executive takeaway: Answer quality is controlled by two gates: grounding gate and coverage-completeness gate.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2C60"/>
                </a:solidFill>
              </a:defRPr>
            </a:pPr>
            <a:r>
              <a:t>6A. Answer Flow Zoom: Retry + Coverage Rewrite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44526A"/>
                </a:solidFill>
              </a:defRPr>
            </a:pPr>
            <a:r>
              <a:t>Readable view of regeneration and acceptance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8064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880"/>
                </a:solidFill>
              </a:defRPr>
            </a:pPr>
            <a:r>
              <a:t>Source: docs/qagredo_answer_generator_detailed.dot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6172200"/>
            <a:ext cx="10972800" cy="411480"/>
          </a:xfrm>
          <a:prstGeom prst="roundRect">
            <a:avLst/>
          </a:prstGeom>
          <a:solidFill>
            <a:srgbClr val="EEF5FF"/>
          </a:solidFill>
          <a:ln>
            <a:solidFill>
              <a:srgbClr val="AABF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83768"/>
                </a:solidFill>
              </a:defRPr>
            </a:pPr>
            <a:r>
              <a:t>Executive takeaway: Focus: grounding retries, coverage rewrite trigger, and revised-answer grounding gate.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2C60"/>
                </a:solidFill>
              </a:defRPr>
            </a:pPr>
            <a:r>
              <a:t>7. Answer Controls and Trade-offs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44526A"/>
                </a:solidFill>
              </a:defRPr>
            </a:pPr>
            <a:r>
              <a:t>How answer quality behavior is tuned in config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486400" cy="2286000"/>
          </a:xfrm>
          <a:prstGeom prst="roundRect">
            <a:avLst/>
          </a:prstGeom>
          <a:solidFill>
            <a:srgbClr val="E8F1FF"/>
          </a:solidFill>
          <a:ln>
            <a:solidFill>
              <a:srgbClr val="AAB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112C5A"/>
                </a:solidFill>
              </a:defRPr>
            </a:pPr>
            <a:r>
              <a:t>Grounding rejection loop</a:t>
            </a:r>
          </a:p>
          <a:p>
            <a:pPr>
              <a:spcAft>
                <a:spcPts val="200"/>
              </a:spcAft>
              <a:defRPr sz="1200">
                <a:solidFill>
                  <a:srgbClr val="2A3850"/>
                </a:solidFill>
              </a:defRPr>
            </a:pPr>
            <a:r>
              <a:t>answer_generation.multi_turn.enable_rejection</a:t>
            </a:r>
          </a:p>
          <a:p>
            <a:pPr>
              <a:spcAft>
                <a:spcPts val="200"/>
              </a:spcAft>
              <a:defRPr sz="1200">
                <a:solidFill>
                  <a:srgbClr val="2A3850"/>
                </a:solidFill>
              </a:defRPr>
            </a:pPr>
            <a:r>
              <a:t>answer_generation.multi_turn.min_confidence_threshold</a:t>
            </a:r>
          </a:p>
          <a:p>
            <a:pPr>
              <a:spcAft>
                <a:spcPts val="200"/>
              </a:spcAft>
              <a:defRPr sz="1200">
                <a:solidFill>
                  <a:srgbClr val="2A3850"/>
                </a:solidFill>
              </a:defRPr>
            </a:pPr>
            <a:r>
              <a:t>answer_generation.multi_turn.max_regeneration_attempts</a:t>
            </a:r>
          </a:p>
          <a:p>
            <a:pPr>
              <a:spcAft>
                <a:spcPts val="200"/>
              </a:spcAft>
              <a:defRPr sz="1200">
                <a:solidFill>
                  <a:srgbClr val="2A3850"/>
                </a:solidFill>
              </a:defRPr>
            </a:pPr>
            <a:r>
              <a:t>Effect: stricter grounding -&gt; higher confidence, higher latency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069080"/>
            <a:ext cx="5486400" cy="1920240"/>
          </a:xfrm>
          <a:prstGeom prst="roundRect">
            <a:avLst/>
          </a:prstGeom>
          <a:solidFill>
            <a:srgbClr val="E9FCF4"/>
          </a:solidFill>
          <a:ln>
            <a:solidFill>
              <a:srgbClr val="AAB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112C5A"/>
                </a:solidFill>
              </a:defRPr>
            </a:pPr>
            <a:r>
              <a:t>Coverage rewrite loop</a:t>
            </a:r>
          </a:p>
          <a:p>
            <a:pPr>
              <a:spcAft>
                <a:spcPts val="200"/>
              </a:spcAft>
              <a:defRPr sz="1200">
                <a:solidFill>
                  <a:srgbClr val="2A3850"/>
                </a:solidFill>
              </a:defRPr>
            </a:pPr>
            <a:r>
              <a:t>answer_generation.coverage_validation.enable</a:t>
            </a:r>
          </a:p>
          <a:p>
            <a:pPr>
              <a:spcAft>
                <a:spcPts val="200"/>
              </a:spcAft>
              <a:defRPr sz="1200">
                <a:solidFill>
                  <a:srgbClr val="2A3850"/>
                </a:solidFill>
              </a:defRPr>
            </a:pPr>
            <a:r>
              <a:t>answer_generation.coverage_validation.min_score_threshold</a:t>
            </a:r>
          </a:p>
          <a:p>
            <a:pPr>
              <a:spcAft>
                <a:spcPts val="200"/>
              </a:spcAft>
              <a:defRPr sz="1200">
                <a:solidFill>
                  <a:srgbClr val="2A3850"/>
                </a:solidFill>
              </a:defRPr>
            </a:pPr>
            <a:r>
              <a:t>answer_generation.coverage_validation.max_doc_chars</a:t>
            </a:r>
          </a:p>
          <a:p>
            <a:pPr>
              <a:spcAft>
                <a:spcPts val="200"/>
              </a:spcAft>
              <a:defRPr sz="1200">
                <a:solidFill>
                  <a:srgbClr val="2A3850"/>
                </a:solidFill>
              </a:defRPr>
            </a:pPr>
            <a:r>
              <a:t>Effect: better completeness, possible extra model call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645920"/>
            <a:ext cx="4937760" cy="4343400"/>
          </a:xfrm>
          <a:prstGeom prst="roundRect">
            <a:avLst/>
          </a:prstGeom>
          <a:solidFill>
            <a:srgbClr val="F5F8FF"/>
          </a:solidFill>
          <a:ln>
            <a:solidFill>
              <a:srgbClr val="AAB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112C5A"/>
                </a:solidFill>
              </a:defRPr>
            </a:pPr>
            <a:r>
              <a:t>Practical interpretation</a:t>
            </a:r>
          </a:p>
          <a:p>
            <a:pPr>
              <a:spcAft>
                <a:spcPts val="200"/>
              </a:spcAft>
              <a:defRPr sz="1200">
                <a:solidFill>
                  <a:srgbClr val="2A3850"/>
                </a:solidFill>
              </a:defRPr>
            </a:pPr>
            <a:r>
              <a:t>If many retries: reduce complexity or relax thresholds cautiously</a:t>
            </a:r>
          </a:p>
          <a:p>
            <a:pPr>
              <a:spcAft>
                <a:spcPts val="200"/>
              </a:spcAft>
              <a:defRPr sz="1200">
                <a:solidFill>
                  <a:srgbClr val="2A3850"/>
                </a:solidFill>
              </a:defRPr>
            </a:pPr>
            <a:r>
              <a:t>If many partial answers: increase coverage strictness</a:t>
            </a:r>
          </a:p>
          <a:p>
            <a:pPr>
              <a:spcAft>
                <a:spcPts val="200"/>
              </a:spcAft>
              <a:defRPr sz="1200">
                <a:solidFill>
                  <a:srgbClr val="2A3850"/>
                </a:solidFill>
              </a:defRPr>
            </a:pPr>
            <a:r>
              <a:t>If latency too high: lower retries before lowering quality gates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064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880"/>
                </a:solidFill>
              </a:defRPr>
            </a:pPr>
            <a:r>
              <a:t>Source: utils/answer_generator.py + config/config.&lt;profile&gt;.yaml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6172200"/>
            <a:ext cx="10972800" cy="411480"/>
          </a:xfrm>
          <a:prstGeom prst="roundRect">
            <a:avLst/>
          </a:prstGeom>
          <a:solidFill>
            <a:srgbClr val="EEF5FF"/>
          </a:solidFill>
          <a:ln>
            <a:solidFill>
              <a:srgbClr val="AABF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83768"/>
                </a:solidFill>
              </a:defRPr>
            </a:pPr>
            <a:r>
              <a:t>Executive takeaway: Tune answer controls as a quality-latency dial, not as independent toggles.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2C60"/>
                </a:solidFill>
              </a:defRPr>
            </a:pPr>
            <a:r>
              <a:t>8. Business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44526A"/>
                </a:solidFill>
              </a:defRPr>
            </a:pPr>
            <a:r>
              <a:t>Why teams adopt QAGRedo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669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3045"/>
                </a:solidFill>
              </a:defRPr>
            </a:pPr>
            <a:r>
              <a:t>Governance-ready: every decision can be traced to evidence and grading rationale.</a:t>
            </a:r>
          </a:p>
          <a:p>
            <a:pPr>
              <a:spcAft>
                <a:spcPts val="800"/>
              </a:spcAft>
              <a:defRPr sz="1700">
                <a:solidFill>
                  <a:srgbClr val="233045"/>
                </a:solidFill>
              </a:defRPr>
            </a:pPr>
            <a:r>
              <a:t>Offline-ready: suitable for air-gapped and restricted environments.</a:t>
            </a:r>
          </a:p>
          <a:p>
            <a:pPr>
              <a:spcAft>
                <a:spcPts val="800"/>
              </a:spcAft>
              <a:defRPr sz="1700">
                <a:solidFill>
                  <a:srgbClr val="233045"/>
                </a:solidFill>
              </a:defRPr>
            </a:pPr>
            <a:r>
              <a:t>Configurable rigor: tune for faster iteration or stricter quality controls.</a:t>
            </a:r>
          </a:p>
          <a:p>
            <a:pPr>
              <a:spcAft>
                <a:spcPts val="800"/>
              </a:spcAft>
              <a:defRPr sz="1700">
                <a:solidFill>
                  <a:srgbClr val="233045"/>
                </a:solidFill>
              </a:defRPr>
            </a:pPr>
            <a:r>
              <a:t>Operationally practical: run-level summaries simplify QA review and escalation.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0" y="1920240"/>
            <a:ext cx="4754880" cy="3108960"/>
          </a:xfrm>
          <a:prstGeom prst="roundRect">
            <a:avLst/>
          </a:prstGeom>
          <a:solidFill>
            <a:srgbClr val="F5F8FF"/>
          </a:solidFill>
          <a:ln>
            <a:solidFill>
              <a:srgbClr val="AAB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112C5A"/>
                </a:solidFill>
              </a:defRPr>
            </a:pPr>
            <a:r>
              <a:t>Primary outcomes</a:t>
            </a:r>
          </a:p>
          <a:p>
            <a:pPr>
              <a:spcAft>
                <a:spcPts val="200"/>
              </a:spcAft>
              <a:defRPr sz="1200">
                <a:solidFill>
                  <a:srgbClr val="2A3850"/>
                </a:solidFill>
              </a:defRPr>
            </a:pPr>
            <a:r>
              <a:t>Higher confidence in generated QA</a:t>
            </a:r>
          </a:p>
          <a:p>
            <a:pPr>
              <a:spcAft>
                <a:spcPts val="200"/>
              </a:spcAft>
              <a:defRPr sz="1200">
                <a:solidFill>
                  <a:srgbClr val="2A3850"/>
                </a:solidFill>
              </a:defRPr>
            </a:pPr>
            <a:r>
              <a:t>Better audit posture</a:t>
            </a:r>
          </a:p>
          <a:p>
            <a:pPr>
              <a:spcAft>
                <a:spcPts val="200"/>
              </a:spcAft>
              <a:defRPr sz="1200">
                <a:solidFill>
                  <a:srgbClr val="2A3850"/>
                </a:solidFill>
              </a:defRPr>
            </a:pPr>
            <a:r>
              <a:t>Clear failure visibility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6172200"/>
            <a:ext cx="10972800" cy="411480"/>
          </a:xfrm>
          <a:prstGeom prst="roundRect">
            <a:avLst/>
          </a:prstGeom>
          <a:solidFill>
            <a:srgbClr val="EEF5FF"/>
          </a:solidFill>
          <a:ln>
            <a:solidFill>
              <a:srgbClr val="AABF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83768"/>
                </a:solidFill>
              </a:defRPr>
            </a:pPr>
            <a:r>
              <a:t>Executive takeaway: The key value is controlled quality under operational constraints.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2C60"/>
                </a:solidFill>
              </a:defRPr>
            </a:pPr>
            <a:r>
              <a:t>9. Trade-offs and Decision Guidance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44526A"/>
                </a:solidFill>
              </a:defRPr>
            </a:pPr>
            <a:r>
              <a:t>Choose settings by risk tolerance and latency budget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88136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3017520"/>
                <a:gridCol w="3017520"/>
                <a:gridCol w="2743200"/>
              </a:tblGrid>
              <a:tr h="713232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Decision lever</a:t>
                      </a:r>
                    </a:p>
                  </a:txBody>
                  <a:tcPr>
                    <a:solidFill>
                      <a:srgbClr val="2153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Benefit</a:t>
                      </a:r>
                    </a:p>
                  </a:txBody>
                  <a:tcPr>
                    <a:solidFill>
                      <a:srgbClr val="2153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Trade-off</a:t>
                      </a:r>
                    </a:p>
                  </a:txBody>
                  <a:tcPr>
                    <a:solidFill>
                      <a:srgbClr val="2153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When to choose</a:t>
                      </a:r>
                    </a:p>
                  </a:txBody>
                  <a:tcPr>
                    <a:solidFill>
                      <a:srgbClr val="2153A0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A"/>
                          </a:solidFill>
                        </a:defRPr>
                      </a:pPr>
                      <a:r>
                        <a:t>High question complexity</a:t>
                      </a:r>
                    </a:p>
                  </a:txBody>
                  <a:tcPr>
                    <a:solidFill>
                      <a:srgbClr val="F6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A"/>
                          </a:solidFill>
                        </a:defRPr>
                      </a:pPr>
                      <a:r>
                        <a:t>Stronger comprehension stress-test</a:t>
                      </a:r>
                    </a:p>
                  </a:txBody>
                  <a:tcPr>
                    <a:solidFill>
                      <a:srgbClr val="F6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A"/>
                          </a:solidFill>
                        </a:defRPr>
                      </a:pPr>
                      <a:r>
                        <a:t>Higher generation volatility and tuning effort</a:t>
                      </a:r>
                    </a:p>
                  </a:txBody>
                  <a:tcPr>
                    <a:solidFill>
                      <a:srgbClr val="F6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A"/>
                          </a:solidFill>
                        </a:defRPr>
                      </a:pPr>
                      <a:r>
                        <a:t>Policy/risk analysis, due diligence</a:t>
                      </a:r>
                    </a:p>
                  </a:txBody>
                  <a:tcPr>
                    <a:solidFill>
                      <a:srgbClr val="F6FA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A"/>
                          </a:solidFill>
                        </a:defRPr>
                      </a:pPr>
                      <a:r>
                        <a:t>Strict grounding thresholds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A"/>
                          </a:solidFill>
                        </a:defRPr>
                      </a:pPr>
                      <a:r>
                        <a:t>Lower hallucination 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A"/>
                          </a:solidFill>
                        </a:defRPr>
                      </a:pPr>
                      <a:r>
                        <a:t>More retries, longer runtime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A"/>
                          </a:solidFill>
                        </a:defRPr>
                      </a:pPr>
                      <a:r>
                        <a:t>Regulated or audit-heavy workflows</a:t>
                      </a:r>
                    </a:p>
                  </a:txBody>
                  <a:tcPr/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A"/>
                          </a:solidFill>
                        </a:defRPr>
                      </a:pPr>
                      <a:r>
                        <a:t>Strict LLM judge (default)</a:t>
                      </a:r>
                    </a:p>
                  </a:txBody>
                  <a:tcPr>
                    <a:solidFill>
                      <a:srgbClr val="F6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A"/>
                          </a:solidFill>
                        </a:defRPr>
                      </a:pPr>
                      <a:r>
                        <a:t>Consistent judge-only governance</a:t>
                      </a:r>
                    </a:p>
                  </a:txBody>
                  <a:tcPr>
                    <a:solidFill>
                      <a:srgbClr val="F6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A"/>
                          </a:solidFill>
                        </a:defRPr>
                      </a:pPr>
                      <a:r>
                        <a:t>Higher latency than lightweight grading paths</a:t>
                      </a:r>
                    </a:p>
                  </a:txBody>
                  <a:tcPr>
                    <a:solidFill>
                      <a:srgbClr val="F6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A"/>
                          </a:solidFill>
                        </a:defRPr>
                      </a:pPr>
                      <a:r>
                        <a:t>Quality-critical production deployment</a:t>
                      </a:r>
                    </a:p>
                  </a:txBody>
                  <a:tcPr>
                    <a:solidFill>
                      <a:srgbClr val="F6FA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A"/>
                          </a:solidFill>
                        </a:defRPr>
                      </a:pPr>
                      <a:r>
                        <a:t>Coverage rewrite enabled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A"/>
                          </a:solidFill>
                        </a:defRPr>
                      </a:pPr>
                      <a:r>
                        <a:t>More complete answers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A"/>
                          </a:solidFill>
                        </a:defRPr>
                      </a:pPr>
                      <a:r>
                        <a:t>Additional model call in some cases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A"/>
                          </a:solidFill>
                        </a:defRPr>
                      </a:pPr>
                      <a:r>
                        <a:t>Complex multi-part questions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40080" y="6172200"/>
            <a:ext cx="10972800" cy="411480"/>
          </a:xfrm>
          <a:prstGeom prst="roundRect">
            <a:avLst/>
          </a:prstGeom>
          <a:solidFill>
            <a:srgbClr val="EEF5FF"/>
          </a:solidFill>
          <a:ln>
            <a:solidFill>
              <a:srgbClr val="AABF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83768"/>
                </a:solidFill>
              </a:defRPr>
            </a:pPr>
            <a:r>
              <a:t>Executive takeaway: QAGRedo is strongest when quality and auditability matter more than raw speed.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2C60"/>
                </a:solidFill>
              </a:defRPr>
            </a:pPr>
            <a:r>
              <a:t>10. Best-Fit vs Not-Ideal Scenarios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44526A"/>
                </a:solidFill>
              </a:defRPr>
            </a:pPr>
            <a:r>
              <a:t>Set expectations before rollout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394960" cy="4206240"/>
          </a:xfrm>
          <a:prstGeom prst="roundRect">
            <a:avLst/>
          </a:prstGeom>
          <a:solidFill>
            <a:srgbClr val="E9FCF4"/>
          </a:solidFill>
          <a:ln>
            <a:solidFill>
              <a:srgbClr val="AAB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112C5A"/>
                </a:solidFill>
              </a:defRPr>
            </a:pPr>
            <a:r>
              <a:t>Best fit</a:t>
            </a:r>
          </a:p>
          <a:p>
            <a:pPr>
              <a:spcAft>
                <a:spcPts val="200"/>
              </a:spcAft>
              <a:defRPr sz="1200">
                <a:solidFill>
                  <a:srgbClr val="2A3850"/>
                </a:solidFill>
              </a:defRPr>
            </a:pPr>
            <a:r>
              <a:t>Compliance and policy workflows</a:t>
            </a:r>
          </a:p>
          <a:p>
            <a:pPr>
              <a:spcAft>
                <a:spcPts val="200"/>
              </a:spcAft>
              <a:defRPr sz="1200">
                <a:solidFill>
                  <a:srgbClr val="2A3850"/>
                </a:solidFill>
              </a:defRPr>
            </a:pPr>
            <a:r>
              <a:t>Internal knowledge QA in restricted networks</a:t>
            </a:r>
          </a:p>
          <a:p>
            <a:pPr>
              <a:spcAft>
                <a:spcPts val="200"/>
              </a:spcAft>
              <a:defRPr sz="1200">
                <a:solidFill>
                  <a:srgbClr val="2A3850"/>
                </a:solidFill>
              </a:defRPr>
            </a:pPr>
            <a:r>
              <a:t>High-stakes reports requiring audit trails</a:t>
            </a:r>
          </a:p>
          <a:p>
            <a:pPr>
              <a:spcAft>
                <a:spcPts val="200"/>
              </a:spcAft>
              <a:defRPr sz="1200">
                <a:solidFill>
                  <a:srgbClr val="2A3850"/>
                </a:solidFill>
              </a:defRPr>
            </a:pPr>
            <a:r>
              <a:t>Teams willing to tune thresholds deliberately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645920"/>
            <a:ext cx="4937760" cy="4206240"/>
          </a:xfrm>
          <a:prstGeom prst="roundRect">
            <a:avLst/>
          </a:prstGeom>
          <a:solidFill>
            <a:srgbClr val="FFF0E5"/>
          </a:solidFill>
          <a:ln>
            <a:solidFill>
              <a:srgbClr val="AAB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112C5A"/>
                </a:solidFill>
              </a:defRPr>
            </a:pPr>
            <a:r>
              <a:t>Not ideal (without simplification)</a:t>
            </a:r>
          </a:p>
          <a:p>
            <a:pPr>
              <a:spcAft>
                <a:spcPts val="200"/>
              </a:spcAft>
              <a:defRPr sz="1200">
                <a:solidFill>
                  <a:srgbClr val="2A3850"/>
                </a:solidFill>
              </a:defRPr>
            </a:pPr>
            <a:r>
              <a:t>Ultra-low-latency interactive assistants</a:t>
            </a:r>
          </a:p>
          <a:p>
            <a:pPr>
              <a:spcAft>
                <a:spcPts val="200"/>
              </a:spcAft>
              <a:defRPr sz="1200">
                <a:solidFill>
                  <a:srgbClr val="2A3850"/>
                </a:solidFill>
              </a:defRPr>
            </a:pPr>
            <a:r>
              <a:t>Use cases needing open-web retrieval</a:t>
            </a:r>
          </a:p>
          <a:p>
            <a:pPr>
              <a:spcAft>
                <a:spcPts val="200"/>
              </a:spcAft>
              <a:defRPr sz="1200">
                <a:solidFill>
                  <a:srgbClr val="2A3850"/>
                </a:solidFill>
              </a:defRPr>
            </a:pPr>
            <a:r>
              <a:t>Teams without ops ownership for model services</a:t>
            </a:r>
          </a:p>
          <a:p>
            <a:pPr>
              <a:spcAft>
                <a:spcPts val="200"/>
              </a:spcAft>
              <a:defRPr sz="1200">
                <a:solidFill>
                  <a:srgbClr val="2A3850"/>
                </a:solidFill>
              </a:defRPr>
            </a:pPr>
            <a:r>
              <a:t>Situations prioritizing speed over evidential quality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6172200"/>
            <a:ext cx="10972800" cy="411480"/>
          </a:xfrm>
          <a:prstGeom prst="roundRect">
            <a:avLst/>
          </a:prstGeom>
          <a:solidFill>
            <a:srgbClr val="EEF5FF"/>
          </a:solidFill>
          <a:ln>
            <a:solidFill>
              <a:srgbClr val="AABF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83768"/>
                </a:solidFill>
              </a:defRPr>
            </a:pPr>
            <a:r>
              <a:t>Executive takeaway: Position QAGRedo as a quality-first pipeline, not a generic chatbot replacement.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2C60"/>
                </a:solidFill>
              </a:defRPr>
            </a:pPr>
            <a:r>
              <a:t>11. Key Risks and Mitigations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44526A"/>
                </a:solidFill>
              </a:defRPr>
            </a:pPr>
            <a:r>
              <a:t>Professional risk framing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657600" cy="1920240"/>
          </a:xfrm>
          <a:prstGeom prst="roundRect">
            <a:avLst/>
          </a:prstGeom>
          <a:solidFill>
            <a:srgbClr val="F6FAFF"/>
          </a:solidFill>
          <a:ln>
            <a:solidFill>
              <a:srgbClr val="AAB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112C5A"/>
                </a:solidFill>
              </a:defRPr>
            </a:pPr>
            <a:r>
              <a:t>Risk: Runtime complexity</a:t>
            </a:r>
          </a:p>
          <a:p>
            <a:pPr>
              <a:spcAft>
                <a:spcPts val="200"/>
              </a:spcAft>
              <a:defRPr sz="1200">
                <a:solidFill>
                  <a:srgbClr val="2A3850"/>
                </a:solidFill>
              </a:defRPr>
            </a:pPr>
            <a:r>
              <a:t>Mitigation: standard runbooks</a:t>
            </a:r>
          </a:p>
          <a:p>
            <a:pPr>
              <a:spcAft>
                <a:spcPts val="200"/>
              </a:spcAft>
              <a:defRPr sz="1200">
                <a:solidFill>
                  <a:srgbClr val="2A3850"/>
                </a:solidFill>
              </a:defRPr>
            </a:pPr>
            <a:r>
              <a:t>Mitigation: preset config profiles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1737360"/>
            <a:ext cx="3657600" cy="1920240"/>
          </a:xfrm>
          <a:prstGeom prst="roundRect">
            <a:avLst/>
          </a:prstGeom>
          <a:solidFill>
            <a:srgbClr val="F6FAFF"/>
          </a:solidFill>
          <a:ln>
            <a:solidFill>
              <a:srgbClr val="AAB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112C5A"/>
                </a:solidFill>
              </a:defRPr>
            </a:pPr>
            <a:r>
              <a:t>Risk: Latency increase</a:t>
            </a:r>
          </a:p>
          <a:p>
            <a:pPr>
              <a:spcAft>
                <a:spcPts val="200"/>
              </a:spcAft>
              <a:defRPr sz="1200">
                <a:solidFill>
                  <a:srgbClr val="2A3850"/>
                </a:solidFill>
              </a:defRPr>
            </a:pPr>
            <a:r>
              <a:t>Mitigation: strict judge preflight</a:t>
            </a:r>
          </a:p>
          <a:p>
            <a:pPr>
              <a:spcAft>
                <a:spcPts val="200"/>
              </a:spcAft>
              <a:defRPr sz="1200">
                <a:solidFill>
                  <a:srgbClr val="2A3850"/>
                </a:solidFill>
              </a:defRPr>
            </a:pPr>
            <a:r>
              <a:t>Mitigation: targeted retries only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1737360"/>
            <a:ext cx="3017520" cy="1920240"/>
          </a:xfrm>
          <a:prstGeom prst="roundRect">
            <a:avLst/>
          </a:prstGeom>
          <a:solidFill>
            <a:srgbClr val="F6FAFF"/>
          </a:solidFill>
          <a:ln>
            <a:solidFill>
              <a:srgbClr val="AAB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112C5A"/>
                </a:solidFill>
              </a:defRPr>
            </a:pPr>
            <a:r>
              <a:t>Risk: Model mismatch/config drift</a:t>
            </a:r>
          </a:p>
          <a:p>
            <a:pPr>
              <a:spcAft>
                <a:spcPts val="200"/>
              </a:spcAft>
              <a:defRPr sz="1200">
                <a:solidFill>
                  <a:srgbClr val="2A3850"/>
                </a:solidFill>
              </a:defRPr>
            </a:pPr>
            <a:r>
              <a:t>Mitigation: health/model checks in startup</a:t>
            </a:r>
          </a:p>
          <a:p>
            <a:pPr>
              <a:spcAft>
                <a:spcPts val="200"/>
              </a:spcAft>
              <a:defRPr sz="1200">
                <a:solidFill>
                  <a:srgbClr val="2A3850"/>
                </a:solidFill>
              </a:defRPr>
            </a:pPr>
            <a:r>
              <a:t>Mitigation: env + config consistency checks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6172200"/>
            <a:ext cx="10972800" cy="411480"/>
          </a:xfrm>
          <a:prstGeom prst="roundRect">
            <a:avLst/>
          </a:prstGeom>
          <a:solidFill>
            <a:srgbClr val="EEF5FF"/>
          </a:solidFill>
          <a:ln>
            <a:solidFill>
              <a:srgbClr val="AABF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83768"/>
                </a:solidFill>
              </a:defRPr>
            </a:pPr>
            <a:r>
              <a:t>Executive takeaway: Most risks are operational and manageable with clear run discipline.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2C60"/>
                </a:solidFill>
              </a:defRPr>
            </a:pPr>
            <a:r>
              <a:t>12. KPI Framework for Leadership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44526A"/>
                </a:solidFill>
              </a:defRPr>
            </a:pPr>
            <a:r>
              <a:t>How to measure whether deployment is working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566160" cy="3474720"/>
          </a:xfrm>
          <a:prstGeom prst="roundRect">
            <a:avLst/>
          </a:prstGeom>
          <a:solidFill>
            <a:srgbClr val="E8F1FF"/>
          </a:solidFill>
          <a:ln>
            <a:solidFill>
              <a:srgbClr val="AAB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112C5A"/>
                </a:solidFill>
              </a:defRPr>
            </a:pPr>
            <a:r>
              <a:t>Quality KPIs</a:t>
            </a:r>
          </a:p>
          <a:p>
            <a:pPr>
              <a:spcAft>
                <a:spcPts val="200"/>
              </a:spcAft>
              <a:defRPr sz="1200">
                <a:solidFill>
                  <a:srgbClr val="2A3850"/>
                </a:solidFill>
              </a:defRPr>
            </a:pPr>
            <a:r>
              <a:t>Grounded vs ungrounded rate</a:t>
            </a:r>
          </a:p>
          <a:p>
            <a:pPr>
              <a:spcAft>
                <a:spcPts val="200"/>
              </a:spcAft>
              <a:defRPr sz="1200">
                <a:solidFill>
                  <a:srgbClr val="2A3850"/>
                </a:solidFill>
              </a:defRPr>
            </a:pPr>
            <a:r>
              <a:t>Grade distribution trend</a:t>
            </a:r>
          </a:p>
          <a:p>
            <a:pPr>
              <a:spcAft>
                <a:spcPts val="200"/>
              </a:spcAft>
              <a:defRPr sz="1200">
                <a:solidFill>
                  <a:srgbClr val="2A3850"/>
                </a:solidFill>
              </a:defRPr>
            </a:pPr>
            <a:r>
              <a:t>Coverage rewrite acceptance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26280" y="1737360"/>
            <a:ext cx="3566160" cy="3474720"/>
          </a:xfrm>
          <a:prstGeom prst="roundRect">
            <a:avLst/>
          </a:prstGeom>
          <a:solidFill>
            <a:srgbClr val="E9FCF4"/>
          </a:solidFill>
          <a:ln>
            <a:solidFill>
              <a:srgbClr val="AAB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112C5A"/>
                </a:solidFill>
              </a:defRPr>
            </a:pPr>
            <a:r>
              <a:t>Efficiency KPIs</a:t>
            </a:r>
          </a:p>
          <a:p>
            <a:pPr>
              <a:spcAft>
                <a:spcPts val="200"/>
              </a:spcAft>
              <a:defRPr sz="1200">
                <a:solidFill>
                  <a:srgbClr val="2A3850"/>
                </a:solidFill>
              </a:defRPr>
            </a:pPr>
            <a:r>
              <a:t>Total runtime per document</a:t>
            </a:r>
          </a:p>
          <a:p>
            <a:pPr>
              <a:spcAft>
                <a:spcPts val="200"/>
              </a:spcAft>
              <a:defRPr sz="1200">
                <a:solidFill>
                  <a:srgbClr val="2A3850"/>
                </a:solidFill>
              </a:defRPr>
            </a:pPr>
            <a:r>
              <a:t>Retry counters by stage</a:t>
            </a:r>
          </a:p>
          <a:p>
            <a:pPr>
              <a:spcAft>
                <a:spcPts val="200"/>
              </a:spcAft>
              <a:defRPr sz="1200">
                <a:solidFill>
                  <a:srgbClr val="2A3850"/>
                </a:solidFill>
              </a:defRPr>
            </a:pPr>
            <a:r>
              <a:t>Judge fallback frequency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21040" y="1737360"/>
            <a:ext cx="3017520" cy="3474720"/>
          </a:xfrm>
          <a:prstGeom prst="roundRect">
            <a:avLst/>
          </a:prstGeom>
          <a:solidFill>
            <a:srgbClr val="F0ECFF"/>
          </a:solidFill>
          <a:ln>
            <a:solidFill>
              <a:srgbClr val="AAB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112C5A"/>
                </a:solidFill>
              </a:defRPr>
            </a:pPr>
            <a:r>
              <a:t>Governance KPIs</a:t>
            </a:r>
          </a:p>
          <a:p>
            <a:pPr>
              <a:spcAft>
                <a:spcPts val="200"/>
              </a:spcAft>
              <a:defRPr sz="1200">
                <a:solidFill>
                  <a:srgbClr val="2A3850"/>
                </a:solidFill>
              </a:defRPr>
            </a:pPr>
            <a:r>
              <a:t>Audit completeness</a:t>
            </a:r>
          </a:p>
          <a:p>
            <a:pPr>
              <a:spcAft>
                <a:spcPts val="200"/>
              </a:spcAft>
              <a:defRPr sz="1200">
                <a:solidFill>
                  <a:srgbClr val="2A3850"/>
                </a:solidFill>
              </a:defRPr>
            </a:pPr>
            <a:r>
              <a:t>Failure reason completeness</a:t>
            </a:r>
          </a:p>
          <a:p>
            <a:pPr>
              <a:spcAft>
                <a:spcPts val="200"/>
              </a:spcAft>
              <a:defRPr sz="1200">
                <a:solidFill>
                  <a:srgbClr val="2A3850"/>
                </a:solidFill>
              </a:defRPr>
            </a:pPr>
            <a:r>
              <a:t>Reproducibility across reruns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6172200"/>
            <a:ext cx="10972800" cy="411480"/>
          </a:xfrm>
          <a:prstGeom prst="roundRect">
            <a:avLst/>
          </a:prstGeom>
          <a:solidFill>
            <a:srgbClr val="EEF5FF"/>
          </a:solidFill>
          <a:ln>
            <a:solidFill>
              <a:srgbClr val="AABF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83768"/>
                </a:solidFill>
              </a:defRPr>
            </a:pPr>
            <a:r>
              <a:t>Executive takeaway: Track quality and throughput together; optimize one without the other is misleading.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2C60"/>
                </a:solidFill>
              </a:defRPr>
            </a:pPr>
            <a:r>
              <a:t>13. Rollout Plan (Recommended)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44526A"/>
                </a:solidFill>
              </a:defRPr>
            </a:pPr>
            <a:r>
              <a:t>Phase-based adoption to control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6400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3045"/>
                </a:solidFill>
              </a:defRPr>
            </a:pPr>
            <a:r>
              <a:t>Phase 1: Baseline with strict llm-judge settings and representative documents.</a:t>
            </a:r>
          </a:p>
          <a:p>
            <a:pPr>
              <a:spcAft>
                <a:spcPts val="800"/>
              </a:spcAft>
              <a:defRPr sz="1700">
                <a:solidFill>
                  <a:srgbClr val="233045"/>
                </a:solidFill>
              </a:defRPr>
            </a:pPr>
            <a:r>
              <a:t>Phase 2: Tune question complexity and coverage thresholds by domain.</a:t>
            </a:r>
          </a:p>
          <a:p>
            <a:pPr>
              <a:spcAft>
                <a:spcPts val="800"/>
              </a:spcAft>
              <a:defRPr sz="1700">
                <a:solidFill>
                  <a:srgbClr val="233045"/>
                </a:solidFill>
              </a:defRPr>
            </a:pPr>
            <a:r>
              <a:t>Phase 3: Institutionalize KPI review and incident triage workflow.</a:t>
            </a:r>
          </a:p>
          <a:p>
            <a:pPr>
              <a:spcAft>
                <a:spcPts val="800"/>
              </a:spcAft>
              <a:defRPr sz="1700">
                <a:solidFill>
                  <a:srgbClr val="233045"/>
                </a:solidFill>
              </a:defRPr>
            </a:pPr>
            <a:r>
              <a:t>Phase 4: Standardize profiles (fast / standard / strict) by use case.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79" y="2011680"/>
            <a:ext cx="3931920" cy="2743200"/>
          </a:xfrm>
          <a:prstGeom prst="roundRect">
            <a:avLst/>
          </a:prstGeom>
          <a:solidFill>
            <a:srgbClr val="F5F8FF"/>
          </a:solidFill>
          <a:ln>
            <a:solidFill>
              <a:srgbClr val="AAB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112C5A"/>
                </a:solidFill>
              </a:defRPr>
            </a:pPr>
            <a:r>
              <a:t>Change-management principle</a:t>
            </a:r>
          </a:p>
          <a:p>
            <a:pPr>
              <a:spcAft>
                <a:spcPts val="200"/>
              </a:spcAft>
              <a:defRPr sz="1200">
                <a:solidFill>
                  <a:srgbClr val="2A3850"/>
                </a:solidFill>
              </a:defRPr>
            </a:pPr>
            <a:r>
              <a:t>Adjust one lever at a time</a:t>
            </a:r>
          </a:p>
          <a:p>
            <a:pPr>
              <a:spcAft>
                <a:spcPts val="200"/>
              </a:spcAft>
              <a:defRPr sz="1200">
                <a:solidFill>
                  <a:srgbClr val="2A3850"/>
                </a:solidFill>
              </a:defRPr>
            </a:pPr>
            <a:r>
              <a:t>Compare metrics before/after</a:t>
            </a:r>
          </a:p>
          <a:p>
            <a:pPr>
              <a:spcAft>
                <a:spcPts val="200"/>
              </a:spcAft>
              <a:defRPr sz="1200">
                <a:solidFill>
                  <a:srgbClr val="2A3850"/>
                </a:solidFill>
              </a:defRPr>
            </a:pPr>
            <a:r>
              <a:t>Avoid multi-variable drift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6172200"/>
            <a:ext cx="10972800" cy="411480"/>
          </a:xfrm>
          <a:prstGeom prst="roundRect">
            <a:avLst/>
          </a:prstGeom>
          <a:solidFill>
            <a:srgbClr val="EEF5FF"/>
          </a:solidFill>
          <a:ln>
            <a:solidFill>
              <a:srgbClr val="AABF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83768"/>
                </a:solidFill>
              </a:defRPr>
            </a:pPr>
            <a:r>
              <a:t>Executive takeaway: Controlled rollout gives predictable gains with low operational surprise.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2C60"/>
                </a:solidFill>
              </a:defRPr>
            </a:pPr>
            <a:r>
              <a:t>14. Final 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44526A"/>
                </a:solidFill>
              </a:defRPr>
            </a:pPr>
            <a:r>
              <a:t>Use QAGRedo when trustworthiness is a first-class requirement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33045"/>
                </a:solidFill>
              </a:defRPr>
            </a:pPr>
            <a:r>
              <a:t>Adopt QAGRedo for quality-critical, auditable document QA workflows.</a:t>
            </a:r>
          </a:p>
          <a:p>
            <a:pPr>
              <a:spcAft>
                <a:spcPts val="800"/>
              </a:spcAft>
              <a:defRPr sz="2000">
                <a:solidFill>
                  <a:srgbClr val="233045"/>
                </a:solidFill>
              </a:defRPr>
            </a:pPr>
            <a:r>
              <a:t>Treat latency and compute as tunable costs tied to confidence requirements.</a:t>
            </a:r>
          </a:p>
          <a:p>
            <a:pPr>
              <a:spcAft>
                <a:spcPts val="800"/>
              </a:spcAft>
              <a:defRPr sz="2000">
                <a:solidFill>
                  <a:srgbClr val="233045"/>
                </a:solidFill>
              </a:defRPr>
            </a:pPr>
            <a:r>
              <a:t>Keep strict llm judging and independent judge model as default governance posture.</a:t>
            </a:r>
          </a:p>
          <a:p>
            <a:pPr>
              <a:spcAft>
                <a:spcPts val="800"/>
              </a:spcAft>
              <a:defRPr sz="2000">
                <a:solidFill>
                  <a:srgbClr val="233045"/>
                </a:solidFill>
              </a:defRPr>
            </a:pPr>
            <a:r>
              <a:t>Present trade-offs explicitly to stakeholders: quality, latency, cost, and operational complexity.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4864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6386C"/>
                </a:solidFill>
              </a:defRPr>
            </a:pPr>
            <a:r>
              <a:t>Message for leadership: QAGRedo is a quality-governance system with explicit trade-offs, not a black-box generator.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